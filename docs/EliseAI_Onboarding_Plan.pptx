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ONBOARDING PLAN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EliseAI Pricing Evaluation Product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2860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48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Template for Initial Ingestion &amp; Ongoing Client Management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EliseAI  •  March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069080"/>
            <a:ext cx="9144000" cy="1078992"/>
          </a:xfrm>
          <a:prstGeom prst="rect">
            <a:avLst/>
          </a:prstGeom>
          <a:solidFill>
            <a:srgbClr val="16205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160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4617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06040" y="4160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606040" y="4617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to Cadence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160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754880" y="4617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KPIs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03720" y="4160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903720" y="4617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Cadences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 PHILOSOPHY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of proptech implementations fail to deliver expected ROI. With 33–36% annual staff turnover in multifamily, every process must survive personnel changes. Our onboarding is designed around two principles: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794760" cy="1371600"/>
          </a:xfrm>
          <a:prstGeom prst="rect">
            <a:avLst/>
          </a:prstGeom>
          <a:solidFill>
            <a:srgbClr val="1E305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54864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6420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to Value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time-to-first-insight, not just time-to-data-connection. A PMS feed means nothing until the operator sees their first actionable diagnosis. Target: first automated pricing recommendation within 8 weeks.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554480"/>
            <a:ext cx="3794760" cy="1371600"/>
          </a:xfrm>
          <a:prstGeom prst="rect">
            <a:avLst/>
          </a:prstGeom>
          <a:solidFill>
            <a:srgbClr val="1E305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554480"/>
            <a:ext cx="54864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66420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 Turnover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9202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logged in an append-only audit trail. Every threshold has documented reasoning. Every training module is re-deliverable. When a team member leaves, the platform's institutional knowledge stays.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8046720" cy="1097280"/>
          </a:xfrm>
          <a:prstGeom prst="rect">
            <a:avLst/>
          </a:prstGeom>
          <a:solidFill>
            <a:srgbClr val="1E305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10896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1868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Business Plan Is the Configuration Layer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4747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pricing tools apply uniform thresholds. We ingest your investment thesis — stabilized, value-add, lease-up, repositioning — and translate it into a calibrated configuration. Same data, different strategy, different diagnosis. Your business plan shapes what "good" means, not a vendor default.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TIMELINE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 from kickoff to full operational cadence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1247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36320" y="11247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706880" y="11247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048000" y="11247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718560" y="11247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730240" y="11247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412480" y="11247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48640" y="1371600"/>
            <a:ext cx="633984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1408176"/>
            <a:ext cx="48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219200" y="1371600"/>
            <a:ext cx="1975104" cy="548640"/>
          </a:xfrm>
          <a:prstGeom prst="rect">
            <a:avLst/>
          </a:prstGeom>
          <a:solidFill>
            <a:srgbClr val="1A7A70"/>
          </a:solidFill>
          <a:ln/>
        </p:spPr>
      </p:sp>
      <p:sp>
        <p:nvSpPr>
          <p:cNvPr id="15" name="Text 13"/>
          <p:cNvSpPr/>
          <p:nvPr/>
        </p:nvSpPr>
        <p:spPr>
          <a:xfrm>
            <a:off x="1292352" y="140817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Validation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30880" y="1371600"/>
            <a:ext cx="2645664" cy="548640"/>
          </a:xfrm>
          <a:prstGeom prst="rect">
            <a:avLst/>
          </a:prstGeom>
          <a:solidFill>
            <a:srgbClr val="253474"/>
          </a:solidFill>
          <a:ln/>
        </p:spPr>
      </p:sp>
      <p:sp>
        <p:nvSpPr>
          <p:cNvPr id="17" name="Text 15"/>
          <p:cNvSpPr/>
          <p:nvPr/>
        </p:nvSpPr>
        <p:spPr>
          <a:xfrm>
            <a:off x="3304032" y="1408176"/>
            <a:ext cx="249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&amp; Go-Live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13120" y="1371600"/>
            <a:ext cx="2645664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5986272" y="1408176"/>
            <a:ext cx="249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Mgmt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173480" y="1874520"/>
            <a:ext cx="91440" cy="914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853440" y="199339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ingested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849880" y="1874520"/>
            <a:ext cx="91440" cy="914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3" name="Text 21"/>
          <p:cNvSpPr/>
          <p:nvPr/>
        </p:nvSpPr>
        <p:spPr>
          <a:xfrm>
            <a:off x="2529840" y="199339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526280" y="1874520"/>
            <a:ext cx="91440" cy="914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5" name="Text 23"/>
          <p:cNvSpPr/>
          <p:nvPr/>
        </p:nvSpPr>
        <p:spPr>
          <a:xfrm>
            <a:off x="4206240" y="199339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867400" y="1874520"/>
            <a:ext cx="91440" cy="914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5547360" y="199339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549640" y="1874520"/>
            <a:ext cx="91440" cy="914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0" y="199339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219200" y="2359152"/>
            <a:ext cx="1676400" cy="256032"/>
          </a:xfrm>
          <a:prstGeom prst="rect">
            <a:avLst/>
          </a:prstGeom>
          <a:solidFill>
            <a:srgbClr val="F0F2F5"/>
          </a:solidFill>
          <a:ln w="19050">
            <a:solidFill>
              <a:srgbClr val="0D9488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274064" y="2368296"/>
            <a:ext cx="1566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+1–2 wks if building amenity values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48640" y="3063240"/>
            <a:ext cx="1874520" cy="1600200"/>
          </a:xfrm>
          <a:prstGeom prst="rect">
            <a:avLst/>
          </a:prstGeom>
          <a:solidFill>
            <a:srgbClr val="1E305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8640" y="3063240"/>
            <a:ext cx="54864" cy="1600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31546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31520" y="33832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13232" y="361188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strategy ingestion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capture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template selection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606040" y="3063240"/>
            <a:ext cx="1874520" cy="1600200"/>
          </a:xfrm>
          <a:prstGeom prst="rect">
            <a:avLst/>
          </a:prstGeom>
          <a:solidFill>
            <a:srgbClr val="1E305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606040" y="3063240"/>
            <a:ext cx="54864" cy="1600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9" name="Text 37"/>
          <p:cNvSpPr/>
          <p:nvPr/>
        </p:nvSpPr>
        <p:spPr>
          <a:xfrm>
            <a:off x="2788920" y="31546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788920" y="33832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2–4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770632" y="361188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Amenity value exercise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integration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3063240"/>
            <a:ext cx="1874520" cy="1600200"/>
          </a:xfrm>
          <a:prstGeom prst="rect">
            <a:avLst/>
          </a:prstGeom>
          <a:solidFill>
            <a:srgbClr val="1E305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63440" y="3063240"/>
            <a:ext cx="54864" cy="1600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4" name="Text 42"/>
          <p:cNvSpPr/>
          <p:nvPr/>
        </p:nvSpPr>
        <p:spPr>
          <a:xfrm>
            <a:off x="4846320" y="31546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846320" y="33832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5–8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28032" y="361188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calibration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 set curation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diagnostic run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training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720840" y="3063240"/>
            <a:ext cx="1874520" cy="1600200"/>
          </a:xfrm>
          <a:prstGeom prst="rect">
            <a:avLst/>
          </a:prstGeom>
          <a:solidFill>
            <a:srgbClr val="1E305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720840" y="3063240"/>
            <a:ext cx="54864" cy="1600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9" name="Text 47"/>
          <p:cNvSpPr/>
          <p:nvPr/>
        </p:nvSpPr>
        <p:spPr>
          <a:xfrm>
            <a:off x="6903720" y="31546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903720" y="33832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9+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885432" y="361188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action review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calibration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strategy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measurement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1: AI STRATEGY INGESTION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business plan becomes your pricing configuration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00200" y="10515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154680" y="1261872"/>
            <a:ext cx="2743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00200"/>
            <a:ext cx="2606040" cy="1417320"/>
          </a:xfrm>
          <a:prstGeom prst="rect">
            <a:avLst/>
          </a:prstGeom>
          <a:solidFill>
            <a:srgbClr val="1E305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600200"/>
            <a:ext cx="54864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6916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Business Plan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993392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provides investment thesis, hold period, renovation pipeline, target returns, market positioning. Can be a formal IC memo or structured conversation.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34840" y="10515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89320" y="1261872"/>
            <a:ext cx="2743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1600200"/>
            <a:ext cx="2606040" cy="1417320"/>
          </a:xfrm>
          <a:prstGeom prst="rect">
            <a:avLst/>
          </a:prstGeom>
          <a:solidFill>
            <a:srgbClr val="1E305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83280" y="1600200"/>
            <a:ext cx="54864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16916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Extracts Parameters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66160" y="1993392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parses strategy for: target occupancy, risk tolerance, renovation timeline, submarket context, asset direction (stabilized, value-add, lease-up, disposition).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69480" y="10515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726948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7920" y="1600200"/>
            <a:ext cx="2606040" cy="1417320"/>
          </a:xfrm>
          <a:prstGeom prst="rect">
            <a:avLst/>
          </a:prstGeom>
          <a:solidFill>
            <a:srgbClr val="1E305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1600200"/>
            <a:ext cx="54864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16916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Config with Reasoning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1993392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recommends threshold configuration with rationale per section. Client reviews, adjusts, and activates. Every threshold traces to a business plan input.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246120"/>
            <a:ext cx="8046720" cy="1005840"/>
          </a:xfrm>
          <a:prstGeom prst="rect">
            <a:avLst/>
          </a:prstGeom>
          <a:solidFill>
            <a:srgbClr val="0F3D3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324612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3192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35661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set crisis_below at 0.78 instead of 0.82 because your business plan indicates a value-add strategy with planned 15% unit downtime for renovations. Your submarket occupancy of 88% provides context — you're underperforming the market by 10pts, but 4pts are explained by renovation downtime."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STRATEGY SHAPES THE DIAGNOSIS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same engine — different strategy, different result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794760" cy="2514600"/>
          </a:xfrm>
          <a:prstGeom prst="rect">
            <a:avLst/>
          </a:prstGeom>
          <a:solidFill>
            <a:srgbClr val="1E305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54864" cy="2514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1887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Stabilized REIT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submarket occupancy  •  Conservative posture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7556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6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crisis_below = 0.82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0299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at 79% occupancy fires: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304288"/>
            <a:ext cx="2194560" cy="29260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3042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OCCUPANCY_CRISIS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6974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flags  •  2 CRITICAL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price cut recommended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23360" y="1828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1097280"/>
            <a:ext cx="3794760" cy="2514600"/>
          </a:xfrm>
          <a:prstGeom prst="rect">
            <a:avLst/>
          </a:prstGeom>
          <a:solidFill>
            <a:srgbClr val="1E305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097280"/>
            <a:ext cx="54864" cy="2514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11887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Value-Add Fund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146304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renovation  •  85% submarket occupancy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17556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C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crisis_below = 0.72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0299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B1 at 79% occupancy fires: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2304288"/>
            <a:ext cx="2743200" cy="292608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23042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OCCUPANCY_BELOW_ACTION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26974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flags  •  Lower severity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and experiment, not emergency action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886200"/>
            <a:ext cx="8046720" cy="384048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254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390448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business plan is the configuration layer — not an afterthought. The same engine adapts to stabilized, value-add, lease-up, or repositioning strategies.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2: DATA REQUIREMENTS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377440" cy="32004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(Blocks Go-Live)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08960" y="91440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roll export (unit ID, status, current rent, lease dates, unit type)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attributes (bed/bath, sqft, floor level, amenities)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rents for all available units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lease transactions (90+ days preferred)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2377440" cy="32004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(Enhances Diagnosis)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8960" y="214884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 set (3–5 comparable properties, public asking rents)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Traffic/lead data (tours, applications, conversion rates)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Concession history (type, duration, net effective impact)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history (offers sent, accepted, declined)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237744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29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(Future Enrichment)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08960" y="338328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Maintenance/work order data by unit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satisfaction scores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spend by channel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traffic by floor plan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8046720" cy="384048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254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463600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competitor data is limited to publicly available asking rents. We never ingest or store nonpublic competitor data (effective rents, occupancy, concessions).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AMENITY VALUE DECOMPOSITION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Rent = Base Rent + Amenity Premium.  Without unit-level amenity values, we can price unit types in aggregate but not individual units.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794760" cy="1325880"/>
          </a:xfrm>
          <a:prstGeom prst="rect">
            <a:avLst/>
          </a:prstGeom>
          <a:solidFill>
            <a:srgbClr val="1A3A2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88720"/>
            <a:ext cx="54864" cy="1325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188720"/>
            <a:ext cx="54864" cy="132588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618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A: Client Has Amenity Values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12618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 days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57276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existing amenity schedule. Validate against rent roll — do premiums + base = predicted? Flag anomalies. Proceed directly to data validation.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188720"/>
            <a:ext cx="3794760" cy="1325880"/>
          </a:xfrm>
          <a:prstGeom prst="rect">
            <a:avLst/>
          </a:prstGeom>
          <a:solidFill>
            <a:srgbClr val="3A2E1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188720"/>
            <a:ext cx="54864" cy="1325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Shape 11"/>
          <p:cNvSpPr/>
          <p:nvPr/>
        </p:nvSpPr>
        <p:spPr>
          <a:xfrm>
            <a:off x="4800600" y="1188720"/>
            <a:ext cx="54864" cy="132588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2618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B: Building Amenity Values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0" y="126187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+5–10 days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157276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the property unit by unit. Assign premiums for each differentiating attribute. Build a unit-level amenity matrix. Critical for individual unit pricing accuracy.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697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Amenity Premiums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99232"/>
          <a:ext cx="50292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Premium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Floor level (per floor above ground)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 – $80/mo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(pool vs. parking lot)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 – $150/mo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In-unit washer/dryer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 – $400/mo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Renovated finishes vs. classic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 – $200/mo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Patio / balcony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 – $75/mo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 charging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~15% premium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5806440" y="2999232"/>
            <a:ext cx="2788920" cy="1828800"/>
          </a:xfrm>
          <a:prstGeom prst="rect">
            <a:avLst/>
          </a:prstGeom>
          <a:solidFill>
            <a:srgbClr val="1E305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806440" y="2999232"/>
            <a:ext cx="54864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8"/>
          <p:cNvSpPr/>
          <p:nvPr/>
        </p:nvSpPr>
        <p:spPr>
          <a:xfrm>
            <a:off x="6035040" y="3090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035040" y="3364992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amenity configurations are consistently the lowest-hanging revenue fruit. After hundreds of audits, this exercise has never failed to unlock thousands of dollars in previously untapped revenue.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500+ unit portfolios, we recommend a phased approach — start with highest-vacancy properties.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PMS INTEGRATION: BIDIRECTIONAL DATA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2286000" cy="15544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88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Yardi  •  Entrata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RealPage  •  AppFolio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 •  ResMan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566160" y="1051560"/>
            <a:ext cx="2011680" cy="155448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6160" y="1325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EliseAI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Engine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→ Flags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Diagnosis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Action Plan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09360" y="1051560"/>
            <a:ext cx="2286000" cy="15544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188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Workflow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1554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recommendations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override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pushed to PMS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880360" y="1508760"/>
            <a:ext cx="64008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0360" y="12801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623560" y="1508760"/>
            <a:ext cx="64008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12801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623560" y="2240280"/>
            <a:ext cx="6400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5623560" y="23774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PMS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48640" y="2880360"/>
            <a:ext cx="3794760" cy="1417320"/>
          </a:xfrm>
          <a:prstGeom prst="rect">
            <a:avLst/>
          </a:prstGeom>
          <a:solidFill>
            <a:srgbClr val="1E305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2880360"/>
            <a:ext cx="54864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99008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Inbound: PMS → EliseAI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326440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inventory and status (vacant, occupied, on-notice, down)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lease data (rent, term, start/end, renewal status)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attributes (bed/bath, sqft, floor, amenities)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and leasing activity (leads, tours, applications)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lease transactions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2880360"/>
            <a:ext cx="3794760" cy="1417320"/>
          </a:xfrm>
          <a:prstGeom prst="rect">
            <a:avLst/>
          </a:prstGeom>
          <a:solidFill>
            <a:srgbClr val="1E305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2880360"/>
            <a:ext cx="54864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299008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Outbound: EliseAI → PMS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0" y="326440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asking rents by unit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renewal offers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Concession recommendations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term guidance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526280"/>
            <a:ext cx="8046720" cy="384048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254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31520" y="454456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outbound data flows as recommendations — operator approves before anything changes in the PMS. Auto-accept is never the default.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INGESTION &amp; VALIDATION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aggregate must tie — no exceptions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280160" y="11887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23160" y="1389888"/>
            <a:ext cx="25603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37360"/>
            <a:ext cx="1874520" cy="1234440"/>
          </a:xfrm>
          <a:prstGeom prst="rect">
            <a:avLst/>
          </a:prstGeom>
          <a:solidFill>
            <a:srgbClr val="1E305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737360"/>
            <a:ext cx="54864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2880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Mapping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1488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client's PMS field names to platform schema. Normalize unit types, statuses, date formats.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11887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26280" y="1389888"/>
            <a:ext cx="25603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51760" y="1737360"/>
            <a:ext cx="1874520" cy="1234440"/>
          </a:xfrm>
          <a:prstGeom prst="rect">
            <a:avLst/>
          </a:prstGeom>
          <a:solidFill>
            <a:srgbClr val="1E305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51760" y="1737360"/>
            <a:ext cx="54864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2834640" y="182880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Validation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34640" y="21488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counts match rent roll. Rents within expected ranges. No orphan records. Lease date integrity.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0" y="11887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629400" y="1389888"/>
            <a:ext cx="25603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1737360"/>
            <a:ext cx="1874520" cy="1234440"/>
          </a:xfrm>
          <a:prstGeom prst="rect">
            <a:avLst/>
          </a:prstGeom>
          <a:solidFill>
            <a:srgbClr val="1E305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737360"/>
            <a:ext cx="54864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182880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21488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aggregates vs. client's known numbers. Occupancy, asking rents, exposure — every number must match.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589520" y="11887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758952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858000" y="1737360"/>
            <a:ext cx="1874520" cy="1234440"/>
          </a:xfrm>
          <a:prstGeom prst="rect">
            <a:avLst/>
          </a:prstGeom>
          <a:solidFill>
            <a:srgbClr val="1E305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58000" y="1737360"/>
            <a:ext cx="54864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7040880" y="182880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Scorecard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40880" y="21488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client. Score &gt; 85% → proceed. Score &lt; 85% → remediation plan before configuration.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3246120"/>
            <a:ext cx="8046720" cy="1005840"/>
          </a:xfrm>
          <a:prstGeom prst="rect">
            <a:avLst/>
          </a:prstGeom>
          <a:solidFill>
            <a:srgbClr val="1E305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8640" y="324612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33558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Targets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77240" y="363016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validated data within 5 business days of first PMS export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round_half_up() convention applied everywhere — matches standard financial rounding, not Python's banker's rounding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percentage, average, and aggregate must reconcile between the platform and the client's source data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617720"/>
            <a:ext cx="8046720" cy="384048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254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31520" y="463600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clean, validated data within 5 business days of first export. Remediation plan issued if data quality score falls below 85%.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3: CONFIGURATION &amp; CALIBRATION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822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Configuration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14300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config template from strategy ingestion. Walk client through each category: occupancy, exposure, pricing spread, revenue, concession, renewal, lease-term, experiments. Show preview diagnosis with current data.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97280" y="1965960"/>
            <a:ext cx="74980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24028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21488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 Set Curation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46888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 comparable properties based on submarket, class, vintage, unit mix. Client reviews and confirms selections. Public asking rents only — never effective rents, occupancy, or concessions from competitors.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97280" y="3291840"/>
            <a:ext cx="74980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5661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3474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Diagnostic Run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79476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full engine on live data. Review results with client. If diagnosis doesn't match client intuition, adjust thresholds with documented reasoning. This calibration is the bridge between data and strategy.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8046720" cy="384048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254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463600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threshold adjustment is logged with reasoning in the audit trail. Config versions are preserved — you can always compare current vs. prior configurations.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3: TRAINING &amp; GO-LIVE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606040" cy="1691640"/>
          </a:xfrm>
          <a:prstGeom prst="rect">
            <a:avLst/>
          </a:prstGeom>
          <a:solidFill>
            <a:srgbClr val="1E305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914400"/>
            <a:ext cx="54864" cy="1691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058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Managers / VPs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interpretation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strategy alignment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approval workflow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914400"/>
            <a:ext cx="2606040" cy="1691640"/>
          </a:xfrm>
          <a:prstGeom prst="rect">
            <a:avLst/>
          </a:prstGeom>
          <a:solidFill>
            <a:srgbClr val="1E305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914400"/>
            <a:ext cx="54864" cy="1691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0058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Managers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6160" y="128016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 + follow-up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66160" y="15544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review process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 execution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triage and escalation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914400"/>
            <a:ext cx="2606040" cy="1691640"/>
          </a:xfrm>
          <a:prstGeom prst="rect">
            <a:avLst/>
          </a:prstGeom>
          <a:solidFill>
            <a:srgbClr val="1E305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914400"/>
            <a:ext cx="54864" cy="1691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0058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Teams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128016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15544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pricing worksheet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monitoring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hygiene practices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Checklist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315468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Data validated and reconciled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PMS bidirectional feed confirmed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Config thresholds activated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Training sessions complete (all roles)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First diagnostic reviewed with client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Escalation contacts documented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20640" y="2834640"/>
            <a:ext cx="3474720" cy="1691640"/>
          </a:xfrm>
          <a:prstGeom prst="rect">
            <a:avLst/>
          </a:prstGeom>
          <a:solidFill>
            <a:srgbClr val="1E305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120640" y="2834640"/>
            <a:ext cx="54864" cy="1691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0" y="29443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Turnover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03520" y="3218688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training materials are re-deliverable. When staff turns over (33–36% annually in multifamily), any team member can re-onboard from documentation.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Short-form, role-based modules (under 15 minutes each) drive higher completion than comprehensive courses.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4: ONGOING CLIENT MANAGEMENT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cadences that maintain pricing discipline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60604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2606040" cy="1371600"/>
          </a:xfrm>
          <a:prstGeom prst="rect">
            <a:avLst/>
          </a:prstGeom>
          <a:solidFill>
            <a:srgbClr val="1E3054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6459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action review (flags generated, actions taken, overrides logged)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digest email with KPI snapshot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15-minute check-in if needed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1188720"/>
            <a:ext cx="2606040" cy="365760"/>
          </a:xfrm>
          <a:prstGeom prst="rect">
            <a:avLst/>
          </a:prstGeom>
          <a:solidFill>
            <a:srgbClr val="253474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188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83280" y="1554480"/>
            <a:ext cx="2606040" cy="1371600"/>
          </a:xfrm>
          <a:prstGeom prst="rect">
            <a:avLst/>
          </a:prstGeom>
          <a:solidFill>
            <a:srgbClr val="1E3054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20440" y="16459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review meeting (KPIs vs. targets)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threshold calibration (max 10% adjustment per cycle)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 set refresh and validation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188720"/>
            <a:ext cx="260604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188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2606040" cy="1371600"/>
          </a:xfrm>
          <a:prstGeom prst="rect">
            <a:avLst/>
          </a:prstGeom>
          <a:solidFill>
            <a:srgbClr val="1E3054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55080" y="16459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review (investment thesis alignment, portfolio patterns)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template reassessment (has strategy changed?)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analysis with causal measurement methodology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200400"/>
            <a:ext cx="8046720" cy="1188720"/>
          </a:xfrm>
          <a:prstGeom prst="rect">
            <a:avLst/>
          </a:prstGeom>
          <a:solidFill>
            <a:srgbClr val="1E305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200400"/>
            <a:ext cx="54864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31012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Calibration Ground Rules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3584448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10% threshold change per calibration cycle — prevents overreaction to short-term noise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3 data points required before any threshold adjustment — no changes based on a single observation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approval required for every change — the system recommends, the client decides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adjustments logged with reasoning in the audit trail — full history of why thresholds evolved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METRICS: LEADING INDICATORS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signals that the platform is driving adoption and behavior change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554480" cy="2286000"/>
          </a:xfrm>
          <a:prstGeom prst="rect">
            <a:avLst/>
          </a:prstGeom>
          <a:solidFill>
            <a:srgbClr val="1E305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54864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&gt;70%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Rate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60 days of go-live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22960" y="2926080"/>
            <a:ext cx="640080" cy="228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9260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03120" y="1234440"/>
            <a:ext cx="1554480" cy="2286000"/>
          </a:xfrm>
          <a:prstGeom prst="rect">
            <a:avLst/>
          </a:prstGeom>
          <a:solidFill>
            <a:srgbClr val="1E305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03120" y="1234440"/>
            <a:ext cx="54864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2194560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&lt;5d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194560" y="1920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Action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94560" y="2423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days post go-live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0" y="2926080"/>
            <a:ext cx="640080" cy="228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2560320" y="29260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840480" y="1234440"/>
            <a:ext cx="1554480" cy="2286000"/>
          </a:xfrm>
          <a:prstGeom prst="rect">
            <a:avLst/>
          </a:prstGeom>
          <a:solidFill>
            <a:srgbClr val="1E305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0" y="1234440"/>
            <a:ext cx="54864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3931920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&gt;60%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931920" y="1920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Flag-to-Action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931920" y="2423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flags generating responses?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97680" y="2926080"/>
            <a:ext cx="640080" cy="228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4297680" y="29260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577840" y="1234440"/>
            <a:ext cx="1554480" cy="2286000"/>
          </a:xfrm>
          <a:prstGeom prst="rect">
            <a:avLst/>
          </a:prstGeom>
          <a:solidFill>
            <a:srgbClr val="1E305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77840" y="1234440"/>
            <a:ext cx="54864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0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&lt;15%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5669280" y="1920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Override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69280" y="2423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= recalibrate, not a failure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35040" y="2926080"/>
            <a:ext cx="640080" cy="22860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32" name="Text 30"/>
          <p:cNvSpPr/>
          <p:nvPr/>
        </p:nvSpPr>
        <p:spPr>
          <a:xfrm>
            <a:off x="6035040" y="29260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315200" y="1234440"/>
            <a:ext cx="1554480" cy="2286000"/>
          </a:xfrm>
          <a:prstGeom prst="rect">
            <a:avLst/>
          </a:prstGeom>
          <a:solidFill>
            <a:srgbClr val="1E305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15200" y="1234440"/>
            <a:ext cx="54864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7406640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7406640" y="1920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Freshness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406640" y="2423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PMS feed current?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772400" y="2926080"/>
            <a:ext cx="640080" cy="228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0" y="29260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48640" y="3840480"/>
            <a:ext cx="8046720" cy="384048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25400" dist="1270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1520" y="385876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indicators are measured from Week 8 (go-live). If acceptance rate falls below 50%, trigger re-training and config review.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METRICS: LAGGING INDICATORS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that prove the platform is delivering value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606040" cy="1234440"/>
          </a:xfrm>
          <a:prstGeom prst="rect">
            <a:avLst/>
          </a:prstGeom>
          <a:solidFill>
            <a:srgbClr val="1E305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88720"/>
            <a:ext cx="54864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37160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3533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Change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60 / 90 day post-implementation vs. baseline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188720"/>
            <a:ext cx="2606040" cy="1234440"/>
          </a:xfrm>
          <a:prstGeom prst="rect">
            <a:avLst/>
          </a:prstGeom>
          <a:solidFill>
            <a:srgbClr val="1E305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188720"/>
            <a:ext cx="54864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Shape 11"/>
          <p:cNvSpPr/>
          <p:nvPr/>
        </p:nvSpPr>
        <p:spPr>
          <a:xfrm>
            <a:off x="3566160" y="137160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23360" y="13533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Available Unit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66160" y="18288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RevPAU trend — the single most comprehensive revenue metric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188720"/>
            <a:ext cx="2606040" cy="1234440"/>
          </a:xfrm>
          <a:prstGeom prst="rect">
            <a:avLst/>
          </a:prstGeom>
          <a:solidFill>
            <a:srgbClr val="1E305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188720"/>
            <a:ext cx="54864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0" y="137160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0" y="13533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on Market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0" y="18288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change by unit type — are units leasing faster?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2651760"/>
            <a:ext cx="2606040" cy="1234440"/>
          </a:xfrm>
          <a:prstGeom prst="rect">
            <a:avLst/>
          </a:prstGeom>
          <a:solidFill>
            <a:srgbClr val="1E305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2651760"/>
            <a:ext cx="54864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28346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28163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Loss-to-Lease Capture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31520" y="32918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renewals narrowing the gap between in-place and market rent?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83280" y="2651760"/>
            <a:ext cx="2606040" cy="1234440"/>
          </a:xfrm>
          <a:prstGeom prst="rect">
            <a:avLst/>
          </a:prstGeom>
          <a:solidFill>
            <a:srgbClr val="1E305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83280" y="2651760"/>
            <a:ext cx="54864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Shape 29"/>
          <p:cNvSpPr/>
          <p:nvPr/>
        </p:nvSpPr>
        <p:spPr>
          <a:xfrm>
            <a:off x="3566160" y="28346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356616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023360" y="28163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Vacancy Cost Reduction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566160" y="32918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dollar savings from faster fills and fewer vacant days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2651760"/>
            <a:ext cx="2606040" cy="1234440"/>
          </a:xfrm>
          <a:prstGeom prst="rect">
            <a:avLst/>
          </a:prstGeom>
          <a:solidFill>
            <a:srgbClr val="1E305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7920" y="2651760"/>
            <a:ext cx="54864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Shape 35"/>
          <p:cNvSpPr/>
          <p:nvPr/>
        </p:nvSpPr>
        <p:spPr>
          <a:xfrm>
            <a:off x="6400800" y="28346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58000" y="28163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Win Rate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400800" y="32918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MAB experiments producing actionable, revenue-positive signals?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4434840"/>
            <a:ext cx="8046720" cy="384048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25400" dist="12700" dir="810000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31520" y="445312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measurement preferred over before-after comparisons. We use synthetic control methodology where possible to isolate platform impact from market trends.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MITIGATION &amp; ESCALATION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41832"/>
            <a:ext cx="640080" cy="256032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418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25880" y="868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Decay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1612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PMS feed breaks or comp data goes stale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63440" y="914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 quality alerts. Fallback to last-known-good dataset. Escalation to client IT contact within 24 hours.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80467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947672"/>
            <a:ext cx="640080" cy="256032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9476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2588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Stall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25880" y="21671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Site teams stop engaging with recommendations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63440" y="19202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adoption scorecard monitors action rates. Re-training trigger activated at &lt;50% flag-to-action rate. "Tech champion" peer support program.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697480"/>
            <a:ext cx="80467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953512"/>
            <a:ext cx="640080" cy="256032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953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2588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Disruption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31729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Key contact leaves mid-implementation or during ongoing management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29260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decisions documented in append-only audit log. Re-onboarding playbook available. Backup "tech champion" designated at go-live.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703320"/>
            <a:ext cx="80467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959352"/>
            <a:ext cx="640080" cy="256032"/>
          </a:xfrm>
          <a:prstGeom prst="rect">
            <a:avLst/>
          </a:prstGeom>
          <a:solidFill>
            <a:srgbClr val="ECC94B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9593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2588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Drift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25880" y="41788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Investment thesis changes but config thresholds remain static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39319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strategic review catches drift. Config template reassessment included in review cadence. AI re-ingestion of updated business plan.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617720"/>
            <a:ext cx="8046720" cy="384048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254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31520" y="463600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recommendation, override, and configuration change is stored in an append-only audit log — ensuring continuity regardless of personnel changes.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DATA TO DECISIONS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8 WEEKS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2860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not just to connect data — it's to change how your team makes pricing decisions. Your business plan becomes the configuration. Your strategy shapes every recommendation. Your team stays empowered, not replaced.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154680"/>
            <a:ext cx="1920240" cy="1280160"/>
          </a:xfrm>
          <a:prstGeom prst="rect">
            <a:avLst/>
          </a:prstGeom>
          <a:solidFill>
            <a:srgbClr val="253474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3154680"/>
            <a:ext cx="192024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2918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First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611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before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97480" y="3154680"/>
            <a:ext cx="1920240" cy="1280160"/>
          </a:xfrm>
          <a:prstGeom prst="rect">
            <a:avLst/>
          </a:prstGeom>
          <a:solidFill>
            <a:srgbClr val="253474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97480" y="3154680"/>
            <a:ext cx="192024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32918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Everything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34640" y="3611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tie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3154680"/>
            <a:ext cx="1920240" cy="1280160"/>
          </a:xfrm>
          <a:prstGeom prst="rect">
            <a:avLst/>
          </a:prstGeom>
          <a:solidFill>
            <a:srgbClr val="253474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3154680"/>
            <a:ext cx="192024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32918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for Turnover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611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survive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 annual churn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95160" y="3154680"/>
            <a:ext cx="1920240" cy="1280160"/>
          </a:xfrm>
          <a:prstGeom prst="rect">
            <a:avLst/>
          </a:prstGeom>
          <a:solidFill>
            <a:srgbClr val="253474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95160" y="3154680"/>
            <a:ext cx="192024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0" y="32918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Causally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32320" y="3611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impact,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just claim it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EliseAI Pricing Product — Client Onboarding Plan</dc:title>
  <dc:subject>PptxGenJS Presentation</dc:subject>
  <dc:creator>David</dc:creator>
  <cp:lastModifiedBy>David</cp:lastModifiedBy>
  <cp:revision>1</cp:revision>
  <dcterms:created xsi:type="dcterms:W3CDTF">2026-03-19T05:29:39Z</dcterms:created>
  <dcterms:modified xsi:type="dcterms:W3CDTF">2026-03-19T05:29:39Z</dcterms:modified>
</cp:coreProperties>
</file>