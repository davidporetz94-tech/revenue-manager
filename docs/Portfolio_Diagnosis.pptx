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C1917"/>
        </a:solidFill>
      </p:bgPr>
    </p:bg>
    <p:spTree>
      <p:nvGrpSpPr>
        <p:cNvPr id="1" name=""/>
        <p:cNvGrpSpPr/>
        <p:nvPr/>
      </p:nvGrpSpPr>
      <p:grpSpPr>
        <a:xfrm>
          <a:off x="0" y="0"/>
          <a:ext cx="0" cy="0"/>
          <a:chOff x="0" y="0"/>
          <a:chExt cx="0" cy="0"/>
        </a:xfrm>
      </p:grpSpPr>
      <p:sp>
        <p:nvSpPr>
          <p:cNvPr id="2" name="Text 0"/>
          <p:cNvSpPr/>
          <p:nvPr/>
        </p:nvSpPr>
        <p:spPr>
          <a:xfrm>
            <a:off x="731520" y="548640"/>
            <a:ext cx="10058400" cy="457200"/>
          </a:xfrm>
          <a:prstGeom prst="rect">
            <a:avLst/>
          </a:prstGeom>
          <a:noFill/>
          <a:ln/>
        </p:spPr>
        <p:txBody>
          <a:bodyPr wrap="square" rtlCol="0" anchor="ctr"/>
          <a:lstStyle/>
          <a:p>
            <a:pPr indent="0" marL="0">
              <a:buNone/>
            </a:pPr>
            <a:r>
              <a:rPr lang="en-US" sz="1400" b="1" spc="600" kern="0" dirty="0">
                <a:solidFill>
                  <a:srgbClr val="78716C"/>
                </a:solidFill>
                <a:latin typeface="Arial" pitchFamily="34" charset="0"/>
                <a:ea typeface="Arial" pitchFamily="34" charset="-122"/>
                <a:cs typeface="Arial" pitchFamily="34" charset="-120"/>
              </a:rPr>
              <a:t>ROBOREV</a:t>
            </a:r>
            <a:endParaRPr lang="en-US" sz="1400" dirty="0"/>
          </a:p>
        </p:txBody>
      </p:sp>
      <p:sp>
        <p:nvSpPr>
          <p:cNvPr id="3" name="Text 1"/>
          <p:cNvSpPr/>
          <p:nvPr/>
        </p:nvSpPr>
        <p:spPr>
          <a:xfrm>
            <a:off x="731520" y="1828800"/>
            <a:ext cx="10058400" cy="1097280"/>
          </a:xfrm>
          <a:prstGeom prst="rect">
            <a:avLst/>
          </a:prstGeom>
          <a:noFill/>
          <a:ln/>
        </p:spPr>
        <p:txBody>
          <a:bodyPr wrap="square" rtlCol="0" anchor="ctr"/>
          <a:lstStyle/>
          <a:p>
            <a:pPr indent="0" marL="0">
              <a:buNone/>
            </a:pPr>
            <a:r>
              <a:rPr lang="en-US" sz="3600" b="1" dirty="0">
                <a:solidFill>
                  <a:srgbClr val="FFFFFF"/>
                </a:solidFill>
                <a:latin typeface="Arial" pitchFamily="34" charset="0"/>
                <a:ea typeface="Arial" pitchFamily="34" charset="-122"/>
                <a:cs typeface="Arial" pitchFamily="34" charset="-120"/>
              </a:rPr>
              <a:t>Portfolio Pricing Analysis</a:t>
            </a:r>
            <a:endParaRPr lang="en-US" sz="3600" dirty="0"/>
          </a:p>
        </p:txBody>
      </p:sp>
      <p:sp>
        <p:nvSpPr>
          <p:cNvPr id="4" name="Text 2"/>
          <p:cNvSpPr/>
          <p:nvPr/>
        </p:nvSpPr>
        <p:spPr>
          <a:xfrm>
            <a:off x="731520" y="3108960"/>
            <a:ext cx="10058400" cy="548640"/>
          </a:xfrm>
          <a:prstGeom prst="rect">
            <a:avLst/>
          </a:prstGeom>
          <a:noFill/>
          <a:ln/>
        </p:spPr>
        <p:txBody>
          <a:bodyPr wrap="square" rtlCol="0" anchor="ctr"/>
          <a:lstStyle/>
          <a:p>
            <a:pPr indent="0" marL="0">
              <a:buNone/>
            </a:pPr>
            <a:r>
              <a:rPr lang="en-US" sz="1600" dirty="0">
                <a:solidFill>
                  <a:srgbClr val="78716C"/>
                </a:solidFill>
                <a:latin typeface="Arial" pitchFamily="34" charset="0"/>
                <a:ea typeface="Arial" pitchFamily="34" charset="-122"/>
                <a:cs typeface="Arial" pitchFamily="34" charset="-120"/>
              </a:rPr>
              <a:t>2 Properties — 156 Units — March 2026</a:t>
            </a:r>
            <a:endParaRPr lang="en-US" sz="1600" dirty="0"/>
          </a:p>
        </p:txBody>
      </p:sp>
      <p:sp>
        <p:nvSpPr>
          <p:cNvPr id="5" name="Text 3"/>
          <p:cNvSpPr/>
          <p:nvPr/>
        </p:nvSpPr>
        <p:spPr>
          <a:xfrm>
            <a:off x="731520" y="5669280"/>
            <a:ext cx="10058400" cy="457200"/>
          </a:xfrm>
          <a:prstGeom prst="rect">
            <a:avLst/>
          </a:prstGeom>
          <a:noFill/>
          <a:ln/>
        </p:spPr>
        <p:txBody>
          <a:bodyPr wrap="square" rtlCol="0" anchor="ctr"/>
          <a:lstStyle/>
          <a:p>
            <a:pPr indent="0" marL="0">
              <a:buNone/>
            </a:pPr>
            <a:r>
              <a:rPr lang="en-US" sz="1200" dirty="0">
                <a:solidFill>
                  <a:srgbClr val="44403C"/>
                </a:solidFill>
                <a:latin typeface="Arial" pitchFamily="34" charset="0"/>
                <a:ea typeface="Arial" pitchFamily="34" charset="-122"/>
                <a:cs typeface="Arial" pitchFamily="34" charset="-120"/>
              </a:rPr>
              <a:t>AI-Powered Revenue Management</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182880"/>
            <a:ext cx="9144000" cy="548640"/>
          </a:xfrm>
          <a:prstGeom prst="rect">
            <a:avLst/>
          </a:prstGeom>
          <a:noFill/>
          <a:ln/>
        </p:spPr>
        <p:txBody>
          <a:bodyPr wrap="square" rtlCol="0" anchor="ctr"/>
          <a:lstStyle/>
          <a:p>
            <a:pPr indent="0" marL="0">
              <a:buNone/>
            </a:pPr>
            <a:r>
              <a:rPr lang="en-US" sz="2000" b="1" dirty="0">
                <a:solidFill>
                  <a:srgbClr val="1C1917"/>
                </a:solidFill>
                <a:latin typeface="Arial" pitchFamily="34" charset="0"/>
                <a:ea typeface="Arial" pitchFamily="34" charset="-122"/>
                <a:cs typeface="Arial" pitchFamily="34" charset="-120"/>
              </a:rPr>
              <a:t>Executive Summary</a:t>
            </a:r>
            <a:endParaRPr lang="en-US" sz="2000" dirty="0"/>
          </a:p>
        </p:txBody>
      </p:sp>
      <p:sp>
        <p:nvSpPr>
          <p:cNvPr id="3" name="Shape 1"/>
          <p:cNvSpPr/>
          <p:nvPr/>
        </p:nvSpPr>
        <p:spPr>
          <a:xfrm>
            <a:off x="548640" y="777240"/>
            <a:ext cx="11064240" cy="9144"/>
          </a:xfrm>
          <a:prstGeom prst="rect">
            <a:avLst/>
          </a:prstGeom>
          <a:solidFill>
            <a:srgbClr val="D6D3D1"/>
          </a:solidFill>
          <a:ln/>
        </p:spPr>
      </p:sp>
      <p:sp>
        <p:nvSpPr>
          <p:cNvPr id="4" name="Text 2"/>
          <p:cNvSpPr/>
          <p:nvPr/>
        </p:nvSpPr>
        <p:spPr>
          <a:xfrm>
            <a:off x="548640" y="1005840"/>
            <a:ext cx="10972800" cy="5029200"/>
          </a:xfrm>
          <a:prstGeom prst="rect">
            <a:avLst/>
          </a:prstGeom>
          <a:noFill/>
          <a:ln/>
        </p:spPr>
        <p:txBody>
          <a:bodyPr wrap="square" rtlCol="0" anchor="t"/>
          <a:lstStyle/>
          <a:p>
            <a:pPr indent="0" marL="0">
              <a:lnSpc>
                <a:spcPct val="135000"/>
              </a:lnSpc>
              <a:buNone/>
            </a:pPr>
            <a:r>
              <a:rPr lang="en-US" sz="1200" dirty="0">
                <a:solidFill>
                  <a:srgbClr val="44403C"/>
                </a:solidFill>
                <a:latin typeface="Arial" pitchFamily="34" charset="0"/>
                <a:ea typeface="Arial" pitchFamily="34" charset="-122"/>
                <a:cs typeface="Arial" pitchFamily="34" charset="-120"/>
              </a:rPr>
              <a:t>Portfolio captures 93.6% of optimal revenue with $23,116 monthly revenue opportunity available</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182880"/>
            <a:ext cx="9144000" cy="548640"/>
          </a:xfrm>
          <a:prstGeom prst="rect">
            <a:avLst/>
          </a:prstGeom>
          <a:noFill/>
          <a:ln/>
        </p:spPr>
        <p:txBody>
          <a:bodyPr wrap="square" rtlCol="0" anchor="ctr"/>
          <a:lstStyle/>
          <a:p>
            <a:pPr indent="0" marL="0">
              <a:buNone/>
            </a:pPr>
            <a:r>
              <a:rPr lang="en-US" sz="2000" b="1" dirty="0">
                <a:solidFill>
                  <a:srgbClr val="1C1917"/>
                </a:solidFill>
                <a:latin typeface="Arial" pitchFamily="34" charset="0"/>
                <a:ea typeface="Arial" pitchFamily="34" charset="-122"/>
                <a:cs typeface="Arial" pitchFamily="34" charset="-120"/>
              </a:rPr>
              <a:t>Portfolio Snapshot</a:t>
            </a:r>
            <a:endParaRPr lang="en-US" sz="2000" dirty="0"/>
          </a:p>
        </p:txBody>
      </p:sp>
      <p:sp>
        <p:nvSpPr>
          <p:cNvPr id="3" name="Shape 1"/>
          <p:cNvSpPr/>
          <p:nvPr/>
        </p:nvSpPr>
        <p:spPr>
          <a:xfrm>
            <a:off x="548640" y="777240"/>
            <a:ext cx="11064240" cy="9144"/>
          </a:xfrm>
          <a:prstGeom prst="rect">
            <a:avLst/>
          </a:prstGeom>
          <a:solidFill>
            <a:srgbClr val="D6D3D1"/>
          </a:solidFill>
          <a:ln/>
        </p:spPr>
      </p:sp>
      <p:sp>
        <p:nvSpPr>
          <p:cNvPr id="4" name="Text 2"/>
          <p:cNvSpPr/>
          <p:nvPr/>
        </p:nvSpPr>
        <p:spPr>
          <a:xfrm>
            <a:off x="548640" y="1005840"/>
            <a:ext cx="10972800" cy="5029200"/>
          </a:xfrm>
          <a:prstGeom prst="rect">
            <a:avLst/>
          </a:prstGeom>
          <a:noFill/>
          <a:ln/>
        </p:spPr>
        <p:txBody>
          <a:bodyPr wrap="square" rtlCol="0" anchor="t"/>
          <a:lstStyle/>
          <a:p>
            <a:pPr indent="0" marL="0">
              <a:lnSpc>
                <a:spcPct val="135000"/>
              </a:lnSpc>
              <a:buNone/>
            </a:pPr>
            <a:r>
              <a:rPr lang="en-US" sz="1200" dirty="0">
                <a:solidFill>
                  <a:srgbClr val="44403C"/>
                </a:solidFill>
                <a:latin typeface="Arial" pitchFamily="34" charset="0"/>
                <a:ea typeface="Arial" pitchFamily="34" charset="-122"/>
                <a:cs typeface="Arial" pitchFamily="34" charset="-120"/>
              </a:rPr>
              <a:t>Your portfolio shows stark performance divergence between properties. Property A achieves 68-grade revenue efficiency with manageable $326 daily vacancy cost, while Property B scores just 25-grade efficiency with $585 daily burn. Property B1 presents the most urgent concern at 79% occupancy with 25% total exposure. The 43-point efficiency gap between properties indicates Property B requires immediate intervention while Property A needs focused attention on the A2 unit type.</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182880"/>
            <a:ext cx="9144000" cy="548640"/>
          </a:xfrm>
          <a:prstGeom prst="rect">
            <a:avLst/>
          </a:prstGeom>
          <a:noFill/>
          <a:ln/>
        </p:spPr>
        <p:txBody>
          <a:bodyPr wrap="square" rtlCol="0" anchor="ctr"/>
          <a:lstStyle/>
          <a:p>
            <a:pPr indent="0" marL="0">
              <a:buNone/>
            </a:pPr>
            <a:r>
              <a:rPr lang="en-US" sz="2000" b="1" dirty="0">
                <a:solidFill>
                  <a:srgbClr val="1C1917"/>
                </a:solidFill>
                <a:latin typeface="Arial" pitchFamily="34" charset="0"/>
                <a:ea typeface="Arial" pitchFamily="34" charset="-122"/>
                <a:cs typeface="Arial" pitchFamily="34" charset="-120"/>
              </a:rPr>
              <a:t>Property Health Ranking</a:t>
            </a:r>
            <a:endParaRPr lang="en-US" sz="2000" dirty="0"/>
          </a:p>
        </p:txBody>
      </p:sp>
      <p:sp>
        <p:nvSpPr>
          <p:cNvPr id="3" name="Shape 1"/>
          <p:cNvSpPr/>
          <p:nvPr/>
        </p:nvSpPr>
        <p:spPr>
          <a:xfrm>
            <a:off x="548640" y="777240"/>
            <a:ext cx="11064240" cy="9144"/>
          </a:xfrm>
          <a:prstGeom prst="rect">
            <a:avLst/>
          </a:prstGeom>
          <a:solidFill>
            <a:srgbClr val="D6D3D1"/>
          </a:solidFill>
          <a:ln/>
        </p:spPr>
      </p:sp>
      <p:sp>
        <p:nvSpPr>
          <p:cNvPr id="4" name="Text 2"/>
          <p:cNvSpPr/>
          <p:nvPr/>
        </p:nvSpPr>
        <p:spPr>
          <a:xfrm>
            <a:off x="548640" y="1005840"/>
            <a:ext cx="10972800" cy="5029200"/>
          </a:xfrm>
          <a:prstGeom prst="rect">
            <a:avLst/>
          </a:prstGeom>
          <a:noFill/>
          <a:ln/>
        </p:spPr>
        <p:txBody>
          <a:bodyPr wrap="square" rtlCol="0" anchor="t"/>
          <a:lstStyle/>
          <a:p>
            <a:pPr indent="0" marL="0">
              <a:lnSpc>
                <a:spcPct val="135000"/>
              </a:lnSpc>
              <a:buNone/>
            </a:pPr>
            <a:r>
              <a:rPr lang="en-US" sz="1200" dirty="0">
                <a:solidFill>
                  <a:srgbClr val="44403C"/>
                </a:solidFill>
                <a:latin typeface="Arial" pitchFamily="34" charset="0"/>
                <a:ea typeface="Arial" pitchFamily="34" charset="-122"/>
                <a:cs typeface="Arial" pitchFamily="34" charset="-120"/>
              </a:rPr>
              <a:t>Property B ranks last with 25-grade revenue efficiency, generating $585 daily vacancy cost that demands immediate action. Property A ranks first with 68-grade efficiency but still faces $326 daily exposure requiring attention. The ranking reflects Property B1's deteriorating occupancy at 79% versus Property A1's stable 96% performance. Your portfolio's 64-grade blended efficiency indicates significant room for improvement, particularly at Property B.</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182880"/>
            <a:ext cx="9144000" cy="548640"/>
          </a:xfrm>
          <a:prstGeom prst="rect">
            <a:avLst/>
          </a:prstGeom>
          <a:noFill/>
          <a:ln/>
        </p:spPr>
        <p:txBody>
          <a:bodyPr wrap="square" rtlCol="0" anchor="ctr"/>
          <a:lstStyle/>
          <a:p>
            <a:pPr indent="0" marL="0">
              <a:buNone/>
            </a:pPr>
            <a:r>
              <a:rPr lang="en-US" sz="2000" b="1" dirty="0">
                <a:solidFill>
                  <a:srgbClr val="1C1917"/>
                </a:solidFill>
                <a:latin typeface="Arial" pitchFamily="34" charset="0"/>
                <a:ea typeface="Arial" pitchFamily="34" charset="-122"/>
                <a:cs typeface="Arial" pitchFamily="34" charset="-120"/>
              </a:rPr>
              <a:t>Portfolio Trends</a:t>
            </a:r>
            <a:endParaRPr lang="en-US" sz="2000" dirty="0"/>
          </a:p>
        </p:txBody>
      </p:sp>
      <p:sp>
        <p:nvSpPr>
          <p:cNvPr id="3" name="Shape 1"/>
          <p:cNvSpPr/>
          <p:nvPr/>
        </p:nvSpPr>
        <p:spPr>
          <a:xfrm>
            <a:off x="548640" y="777240"/>
            <a:ext cx="11064240" cy="9144"/>
          </a:xfrm>
          <a:prstGeom prst="rect">
            <a:avLst/>
          </a:prstGeom>
          <a:solidFill>
            <a:srgbClr val="D6D3D1"/>
          </a:solidFill>
          <a:ln/>
        </p:spPr>
      </p:sp>
      <p:sp>
        <p:nvSpPr>
          <p:cNvPr id="4" name="Text 2"/>
          <p:cNvSpPr/>
          <p:nvPr/>
        </p:nvSpPr>
        <p:spPr>
          <a:xfrm>
            <a:off x="548640" y="1005840"/>
            <a:ext cx="10972800" cy="5029200"/>
          </a:xfrm>
          <a:prstGeom prst="rect">
            <a:avLst/>
          </a:prstGeom>
          <a:noFill/>
          <a:ln/>
        </p:spPr>
        <p:txBody>
          <a:bodyPr wrap="square" rtlCol="0" anchor="t"/>
          <a:lstStyle/>
          <a:p>
            <a:pPr indent="0" marL="0">
              <a:lnSpc>
                <a:spcPct val="135000"/>
              </a:lnSpc>
              <a:buNone/>
            </a:pPr>
            <a:r>
              <a:rPr lang="en-US" sz="1200" dirty="0">
                <a:solidFill>
                  <a:srgbClr val="44403C"/>
                </a:solidFill>
                <a:latin typeface="Arial" pitchFamily="34" charset="0"/>
                <a:ea typeface="Arial" pitchFamily="34" charset="-122"/>
                <a:cs typeface="Arial" pitchFamily="34" charset="-120"/>
              </a:rPr>
              <a:t>Portfolio trends show universal deterioration across all unit types with exposure patterns indicating market-wide leasing velocity concerns. Days on market exceed thresholds portfolio-wide while concession triggers activate across all properties. Property B1 shows the steepest decline with 25% total exposure, while Property A2 exhibits early warning signs at 86% occupancy. These patterns suggest systematic pricing and positioning issues requiring coordinated intervention.</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182880"/>
            <a:ext cx="9144000" cy="548640"/>
          </a:xfrm>
          <a:prstGeom prst="rect">
            <a:avLst/>
          </a:prstGeom>
          <a:noFill/>
          <a:ln/>
        </p:spPr>
        <p:txBody>
          <a:bodyPr wrap="square" rtlCol="0" anchor="ctr"/>
          <a:lstStyle/>
          <a:p>
            <a:pPr indent="0" marL="0">
              <a:buNone/>
            </a:pPr>
            <a:r>
              <a:rPr lang="en-US" sz="2000" b="1" dirty="0">
                <a:solidFill>
                  <a:srgbClr val="1C1917"/>
                </a:solidFill>
                <a:latin typeface="Arial" pitchFamily="34" charset="0"/>
                <a:ea typeface="Arial" pitchFamily="34" charset="-122"/>
                <a:cs typeface="Arial" pitchFamily="34" charset="-120"/>
              </a:rPr>
              <a:t>Revenue at Risk</a:t>
            </a:r>
            <a:endParaRPr lang="en-US" sz="2000" dirty="0"/>
          </a:p>
        </p:txBody>
      </p:sp>
      <p:sp>
        <p:nvSpPr>
          <p:cNvPr id="3" name="Shape 1"/>
          <p:cNvSpPr/>
          <p:nvPr/>
        </p:nvSpPr>
        <p:spPr>
          <a:xfrm>
            <a:off x="548640" y="777240"/>
            <a:ext cx="11064240" cy="9144"/>
          </a:xfrm>
          <a:prstGeom prst="rect">
            <a:avLst/>
          </a:prstGeom>
          <a:solidFill>
            <a:srgbClr val="D6D3D1"/>
          </a:solidFill>
          <a:ln/>
        </p:spPr>
      </p:sp>
      <p:sp>
        <p:nvSpPr>
          <p:cNvPr id="4" name="Text 2"/>
          <p:cNvSpPr/>
          <p:nvPr/>
        </p:nvSpPr>
        <p:spPr>
          <a:xfrm>
            <a:off x="548640" y="1005840"/>
            <a:ext cx="10972800" cy="5029200"/>
          </a:xfrm>
          <a:prstGeom prst="rect">
            <a:avLst/>
          </a:prstGeom>
          <a:noFill/>
          <a:ln/>
        </p:spPr>
        <p:txBody>
          <a:bodyPr wrap="square" rtlCol="0" anchor="t"/>
          <a:lstStyle/>
          <a:p>
            <a:pPr indent="0" marL="0">
              <a:lnSpc>
                <a:spcPct val="135000"/>
              </a:lnSpc>
              <a:buNone/>
            </a:pPr>
            <a:r>
              <a:rPr lang="en-US" sz="1200" dirty="0">
                <a:solidFill>
                  <a:srgbClr val="44403C"/>
                </a:solidFill>
                <a:latin typeface="Arial" pitchFamily="34" charset="0"/>
                <a:ea typeface="Arial" pitchFamily="34" charset="-122"/>
                <a:cs typeface="Arial" pitchFamily="34" charset="-120"/>
              </a:rPr>
              <a:t>Your portfolio faces $23,116 monthly revenue capture opportunity with vacancy costs driving the majority of the gap. Property B contributes $17,549 monthly exposure while Property A adds $9,785, creating combined $27,334 monthly vacancy cost. The revenue efficiency score of 64 indicates your portfolio operates below target performance levels. Immediate intervention at Property B1 and preventive action at Property A2 can capture this revenue opportunity.</a:t>
            </a:r>
            <a:endParaRPr lang="en-US" sz="1200" dirty="0"/>
          </a:p>
        </p:txBody>
      </p:sp>
      <p:sp>
        <p:nvSpPr>
          <p:cNvPr id="5" name="Text 3"/>
          <p:cNvSpPr/>
          <p:nvPr/>
        </p:nvSpPr>
        <p:spPr>
          <a:xfrm>
            <a:off x="548640" y="5943600"/>
            <a:ext cx="10972800" cy="457200"/>
          </a:xfrm>
          <a:prstGeom prst="rect">
            <a:avLst/>
          </a:prstGeom>
          <a:noFill/>
          <a:ln/>
        </p:spPr>
        <p:txBody>
          <a:bodyPr wrap="square" rtlCol="0" anchor="ctr"/>
          <a:lstStyle/>
          <a:p>
            <a:pPr indent="0" marL="0">
              <a:buNone/>
            </a:pPr>
            <a:r>
              <a:rPr lang="en-US" sz="1000" b="1" dirty="0">
                <a:solidFill>
                  <a:srgbClr val="78716C"/>
                </a:solidFill>
                <a:latin typeface="Arial" pitchFamily="34" charset="0"/>
                <a:ea typeface="Arial" pitchFamily="34" charset="-122"/>
                <a:cs typeface="Arial" pitchFamily="34" charset="-120"/>
              </a:rPr>
              <a:t>Revenue Gap Total: 23116.0    |    Revenue Efficiency: 63.9</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182880"/>
            <a:ext cx="9144000" cy="548640"/>
          </a:xfrm>
          <a:prstGeom prst="rect">
            <a:avLst/>
          </a:prstGeom>
          <a:noFill/>
          <a:ln/>
        </p:spPr>
        <p:txBody>
          <a:bodyPr wrap="square" rtlCol="0" anchor="ctr"/>
          <a:lstStyle/>
          <a:p>
            <a:pPr indent="0" marL="0">
              <a:buNone/>
            </a:pPr>
            <a:r>
              <a:rPr lang="en-US" sz="2000" b="1" dirty="0">
                <a:solidFill>
                  <a:srgbClr val="1C1917"/>
                </a:solidFill>
                <a:latin typeface="Arial" pitchFamily="34" charset="0"/>
                <a:ea typeface="Arial" pitchFamily="34" charset="-122"/>
                <a:cs typeface="Arial" pitchFamily="34" charset="-120"/>
              </a:rPr>
              <a:t>Property A Deep Dive</a:t>
            </a:r>
            <a:endParaRPr lang="en-US" sz="2000" dirty="0"/>
          </a:p>
        </p:txBody>
      </p:sp>
      <p:sp>
        <p:nvSpPr>
          <p:cNvPr id="3" name="Shape 1"/>
          <p:cNvSpPr/>
          <p:nvPr/>
        </p:nvSpPr>
        <p:spPr>
          <a:xfrm>
            <a:off x="548640" y="777240"/>
            <a:ext cx="11064240" cy="9144"/>
          </a:xfrm>
          <a:prstGeom prst="rect">
            <a:avLst/>
          </a:prstGeom>
          <a:solidFill>
            <a:srgbClr val="D6D3D1"/>
          </a:solidFill>
          <a:ln/>
        </p:spPr>
      </p:sp>
      <p:sp>
        <p:nvSpPr>
          <p:cNvPr id="4" name="Text 2"/>
          <p:cNvSpPr/>
          <p:nvPr/>
        </p:nvSpPr>
        <p:spPr>
          <a:xfrm>
            <a:off x="548640" y="1005840"/>
            <a:ext cx="10972800" cy="5029200"/>
          </a:xfrm>
          <a:prstGeom prst="rect">
            <a:avLst/>
          </a:prstGeom>
          <a:noFill/>
          <a:ln/>
        </p:spPr>
        <p:txBody>
          <a:bodyPr wrap="square" rtlCol="0" anchor="t"/>
          <a:lstStyle/>
          <a:p>
            <a:pPr indent="0" marL="0">
              <a:lnSpc>
                <a:spcPct val="135000"/>
              </a:lnSpc>
              <a:buNone/>
            </a:pPr>
            <a:r>
              <a:rPr lang="en-US" sz="1200" dirty="0">
                <a:solidFill>
                  <a:srgbClr val="44403C"/>
                </a:solidFill>
                <a:latin typeface="Arial" pitchFamily="34" charset="0"/>
                <a:ea typeface="Arial" pitchFamily="34" charset="-122"/>
                <a:cs typeface="Arial" pitchFamily="34" charset="-120"/>
              </a:rPr>
              <a:t>Property A unit type analysis.</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182880"/>
            <a:ext cx="9144000" cy="548640"/>
          </a:xfrm>
          <a:prstGeom prst="rect">
            <a:avLst/>
          </a:prstGeom>
          <a:noFill/>
          <a:ln/>
        </p:spPr>
        <p:txBody>
          <a:bodyPr wrap="square" rtlCol="0" anchor="ctr"/>
          <a:lstStyle/>
          <a:p>
            <a:pPr indent="0" marL="0">
              <a:buNone/>
            </a:pPr>
            <a:r>
              <a:rPr lang="en-US" sz="2000" b="1" dirty="0">
                <a:solidFill>
                  <a:srgbClr val="1C1917"/>
                </a:solidFill>
                <a:latin typeface="Arial" pitchFamily="34" charset="0"/>
                <a:ea typeface="Arial" pitchFamily="34" charset="-122"/>
                <a:cs typeface="Arial" pitchFamily="34" charset="-120"/>
              </a:rPr>
              <a:t>Property A Trends</a:t>
            </a:r>
            <a:endParaRPr lang="en-US" sz="2000" dirty="0"/>
          </a:p>
        </p:txBody>
      </p:sp>
      <p:sp>
        <p:nvSpPr>
          <p:cNvPr id="3" name="Shape 1"/>
          <p:cNvSpPr/>
          <p:nvPr/>
        </p:nvSpPr>
        <p:spPr>
          <a:xfrm>
            <a:off x="548640" y="777240"/>
            <a:ext cx="11064240" cy="9144"/>
          </a:xfrm>
          <a:prstGeom prst="rect">
            <a:avLst/>
          </a:prstGeom>
          <a:solidFill>
            <a:srgbClr val="D6D3D1"/>
          </a:solidFill>
          <a:ln/>
        </p:spPr>
      </p:sp>
      <p:sp>
        <p:nvSpPr>
          <p:cNvPr id="4" name="Text 2"/>
          <p:cNvSpPr/>
          <p:nvPr/>
        </p:nvSpPr>
        <p:spPr>
          <a:xfrm>
            <a:off x="548640" y="1005840"/>
            <a:ext cx="10972800" cy="5029200"/>
          </a:xfrm>
          <a:prstGeom prst="rect">
            <a:avLst/>
          </a:prstGeom>
          <a:noFill/>
          <a:ln/>
        </p:spPr>
        <p:txBody>
          <a:bodyPr wrap="square" rtlCol="0" anchor="t"/>
          <a:lstStyle/>
          <a:p>
            <a:pPr indent="0" marL="0">
              <a:lnSpc>
                <a:spcPct val="135000"/>
              </a:lnSpc>
              <a:buNone/>
            </a:pPr>
            <a:r>
              <a:rPr lang="en-US" sz="1200" dirty="0">
                <a:solidFill>
                  <a:srgbClr val="44403C"/>
                </a:solidFill>
                <a:latin typeface="Arial" pitchFamily="34" charset="0"/>
                <a:ea typeface="Arial" pitchFamily="34" charset="-122"/>
                <a:cs typeface="Arial" pitchFamily="34" charset="-120"/>
              </a:rPr>
              <a:t>Property A 4-month trend analysis.</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182880"/>
            <a:ext cx="9144000" cy="548640"/>
          </a:xfrm>
          <a:prstGeom prst="rect">
            <a:avLst/>
          </a:prstGeom>
          <a:noFill/>
          <a:ln/>
        </p:spPr>
        <p:txBody>
          <a:bodyPr wrap="square" rtlCol="0" anchor="ctr"/>
          <a:lstStyle/>
          <a:p>
            <a:pPr indent="0" marL="0">
              <a:buNone/>
            </a:pPr>
            <a:r>
              <a:rPr lang="en-US" sz="2000" b="1" dirty="0">
                <a:solidFill>
                  <a:srgbClr val="1C1917"/>
                </a:solidFill>
                <a:latin typeface="Arial" pitchFamily="34" charset="0"/>
                <a:ea typeface="Arial" pitchFamily="34" charset="-122"/>
                <a:cs typeface="Arial" pitchFamily="34" charset="-120"/>
              </a:rPr>
              <a:t>Property B Deep Dive</a:t>
            </a:r>
            <a:endParaRPr lang="en-US" sz="2000" dirty="0"/>
          </a:p>
        </p:txBody>
      </p:sp>
      <p:sp>
        <p:nvSpPr>
          <p:cNvPr id="3" name="Shape 1"/>
          <p:cNvSpPr/>
          <p:nvPr/>
        </p:nvSpPr>
        <p:spPr>
          <a:xfrm>
            <a:off x="548640" y="777240"/>
            <a:ext cx="11064240" cy="9144"/>
          </a:xfrm>
          <a:prstGeom prst="rect">
            <a:avLst/>
          </a:prstGeom>
          <a:solidFill>
            <a:srgbClr val="D6D3D1"/>
          </a:solidFill>
          <a:ln/>
        </p:spPr>
      </p:sp>
      <p:sp>
        <p:nvSpPr>
          <p:cNvPr id="4" name="Text 2"/>
          <p:cNvSpPr/>
          <p:nvPr/>
        </p:nvSpPr>
        <p:spPr>
          <a:xfrm>
            <a:off x="548640" y="1005840"/>
            <a:ext cx="10972800" cy="5029200"/>
          </a:xfrm>
          <a:prstGeom prst="rect">
            <a:avLst/>
          </a:prstGeom>
          <a:noFill/>
          <a:ln/>
        </p:spPr>
        <p:txBody>
          <a:bodyPr wrap="square" rtlCol="0" anchor="t"/>
          <a:lstStyle/>
          <a:p>
            <a:pPr indent="0" marL="0">
              <a:lnSpc>
                <a:spcPct val="135000"/>
              </a:lnSpc>
              <a:buNone/>
            </a:pPr>
            <a:r>
              <a:rPr lang="en-US" sz="1200" dirty="0">
                <a:solidFill>
                  <a:srgbClr val="44403C"/>
                </a:solidFill>
                <a:latin typeface="Arial" pitchFamily="34" charset="0"/>
                <a:ea typeface="Arial" pitchFamily="34" charset="-122"/>
                <a:cs typeface="Arial" pitchFamily="34" charset="-120"/>
              </a:rPr>
              <a:t>Property B unit type analysis.</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182880"/>
            <a:ext cx="9144000" cy="548640"/>
          </a:xfrm>
          <a:prstGeom prst="rect">
            <a:avLst/>
          </a:prstGeom>
          <a:noFill/>
          <a:ln/>
        </p:spPr>
        <p:txBody>
          <a:bodyPr wrap="square" rtlCol="0" anchor="ctr"/>
          <a:lstStyle/>
          <a:p>
            <a:pPr indent="0" marL="0">
              <a:buNone/>
            </a:pPr>
            <a:r>
              <a:rPr lang="en-US" sz="2000" b="1" dirty="0">
                <a:solidFill>
                  <a:srgbClr val="1C1917"/>
                </a:solidFill>
                <a:latin typeface="Arial" pitchFamily="34" charset="0"/>
                <a:ea typeface="Arial" pitchFamily="34" charset="-122"/>
                <a:cs typeface="Arial" pitchFamily="34" charset="-120"/>
              </a:rPr>
              <a:t>Property B Trends</a:t>
            </a:r>
            <a:endParaRPr lang="en-US" sz="2000" dirty="0"/>
          </a:p>
        </p:txBody>
      </p:sp>
      <p:sp>
        <p:nvSpPr>
          <p:cNvPr id="3" name="Shape 1"/>
          <p:cNvSpPr/>
          <p:nvPr/>
        </p:nvSpPr>
        <p:spPr>
          <a:xfrm>
            <a:off x="548640" y="777240"/>
            <a:ext cx="11064240" cy="9144"/>
          </a:xfrm>
          <a:prstGeom prst="rect">
            <a:avLst/>
          </a:prstGeom>
          <a:solidFill>
            <a:srgbClr val="D6D3D1"/>
          </a:solidFill>
          <a:ln/>
        </p:spPr>
      </p:sp>
      <p:sp>
        <p:nvSpPr>
          <p:cNvPr id="4" name="Text 2"/>
          <p:cNvSpPr/>
          <p:nvPr/>
        </p:nvSpPr>
        <p:spPr>
          <a:xfrm>
            <a:off x="548640" y="1005840"/>
            <a:ext cx="10972800" cy="5029200"/>
          </a:xfrm>
          <a:prstGeom prst="rect">
            <a:avLst/>
          </a:prstGeom>
          <a:noFill/>
          <a:ln/>
        </p:spPr>
        <p:txBody>
          <a:bodyPr wrap="square" rtlCol="0" anchor="t"/>
          <a:lstStyle/>
          <a:p>
            <a:pPr indent="0" marL="0">
              <a:lnSpc>
                <a:spcPct val="135000"/>
              </a:lnSpc>
              <a:buNone/>
            </a:pPr>
            <a:r>
              <a:rPr lang="en-US" sz="1200" dirty="0">
                <a:solidFill>
                  <a:srgbClr val="44403C"/>
                </a:solidFill>
                <a:latin typeface="Arial" pitchFamily="34" charset="0"/>
                <a:ea typeface="Arial" pitchFamily="34" charset="-122"/>
                <a:cs typeface="Arial" pitchFamily="34" charset="-120"/>
              </a:rPr>
              <a:t>Property B 4-month trend analysis.</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182880"/>
            <a:ext cx="9144000" cy="548640"/>
          </a:xfrm>
          <a:prstGeom prst="rect">
            <a:avLst/>
          </a:prstGeom>
          <a:noFill/>
          <a:ln/>
        </p:spPr>
        <p:txBody>
          <a:bodyPr wrap="square" rtlCol="0" anchor="ctr"/>
          <a:lstStyle/>
          <a:p>
            <a:pPr indent="0" marL="0">
              <a:buNone/>
            </a:pPr>
            <a:r>
              <a:rPr lang="en-US" sz="2000" b="1" dirty="0">
                <a:solidFill>
                  <a:srgbClr val="1C1917"/>
                </a:solidFill>
                <a:latin typeface="Arial" pitchFamily="34" charset="0"/>
                <a:ea typeface="Arial" pitchFamily="34" charset="-122"/>
                <a:cs typeface="Arial" pitchFamily="34" charset="-120"/>
              </a:rPr>
              <a:t>30-Day Portfolio Action Plan</a:t>
            </a:r>
            <a:endParaRPr lang="en-US" sz="2000" dirty="0"/>
          </a:p>
        </p:txBody>
      </p:sp>
      <p:sp>
        <p:nvSpPr>
          <p:cNvPr id="3" name="Shape 1"/>
          <p:cNvSpPr/>
          <p:nvPr/>
        </p:nvSpPr>
        <p:spPr>
          <a:xfrm>
            <a:off x="548640" y="777240"/>
            <a:ext cx="11064240" cy="9144"/>
          </a:xfrm>
          <a:prstGeom prst="rect">
            <a:avLst/>
          </a:prstGeom>
          <a:solidFill>
            <a:srgbClr val="D6D3D1"/>
          </a:solidFill>
          <a:ln/>
        </p:spPr>
      </p:sp>
      <p:sp>
        <p:nvSpPr>
          <p:cNvPr id="4" name="Text 2"/>
          <p:cNvSpPr/>
          <p:nvPr/>
        </p:nvSpPr>
        <p:spPr>
          <a:xfrm>
            <a:off x="548640" y="1005840"/>
            <a:ext cx="10972800" cy="5029200"/>
          </a:xfrm>
          <a:prstGeom prst="rect">
            <a:avLst/>
          </a:prstGeom>
          <a:noFill/>
          <a:ln/>
        </p:spPr>
        <p:txBody>
          <a:bodyPr wrap="square" rtlCol="0" anchor="t"/>
          <a:lstStyle/>
          <a:p>
            <a:pPr indent="0" marL="0">
              <a:lnSpc>
                <a:spcPct val="135000"/>
              </a:lnSpc>
              <a:buNone/>
            </a:pPr>
            <a:r>
              <a:rPr lang="en-US" sz="1200" dirty="0">
                <a:solidFill>
                  <a:srgbClr val="44403C"/>
                </a:solidFill>
                <a:latin typeface="Arial" pitchFamily="34" charset="0"/>
                <a:ea typeface="Arial" pitchFamily="34" charset="-122"/>
                <a:cs typeface="Arial" pitchFamily="34" charset="-120"/>
              </a:rPr>
              <a:t>The portfolio faces a $27,334 monthly vacancy cost with Property B requiring immediate intervention due to critical occupancy performance. Our 30-day action plan targets $16,450 in monthly savings through systematic pricing corrections and strategic repositioning. Phase 1 focuses on Property B1's $254 daily burn through immediate pricing adjustment from $1,525 to $1,434, while simultaneously addressing Property A2's $235 daily burn before it deteriorates further. The plan balances urgent occupancy recovery with revenue optimization opportunities across stable performing units.</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182880"/>
            <a:ext cx="9144000" cy="548640"/>
          </a:xfrm>
          <a:prstGeom prst="rect">
            <a:avLst/>
          </a:prstGeom>
          <a:noFill/>
          <a:ln/>
        </p:spPr>
        <p:txBody>
          <a:bodyPr wrap="square" rtlCol="0" anchor="ctr"/>
          <a:lstStyle/>
          <a:p>
            <a:pPr indent="0" marL="0">
              <a:buNone/>
            </a:pPr>
            <a:r>
              <a:rPr lang="en-US" sz="2000" b="1" dirty="0">
                <a:solidFill>
                  <a:srgbClr val="1C1917"/>
                </a:solidFill>
                <a:latin typeface="Arial" pitchFamily="34" charset="0"/>
                <a:ea typeface="Arial" pitchFamily="34" charset="-122"/>
                <a:cs typeface="Arial" pitchFamily="34" charset="-120"/>
              </a:rPr>
              <a:t>Phase 1: Immediate Actions</a:t>
            </a:r>
            <a:endParaRPr lang="en-US" sz="2000" dirty="0"/>
          </a:p>
        </p:txBody>
      </p:sp>
      <p:sp>
        <p:nvSpPr>
          <p:cNvPr id="3" name="Shape 1"/>
          <p:cNvSpPr/>
          <p:nvPr/>
        </p:nvSpPr>
        <p:spPr>
          <a:xfrm>
            <a:off x="548640" y="777240"/>
            <a:ext cx="11064240" cy="9144"/>
          </a:xfrm>
          <a:prstGeom prst="rect">
            <a:avLst/>
          </a:prstGeom>
          <a:solidFill>
            <a:srgbClr val="D6D3D1"/>
          </a:solidFill>
          <a:ln/>
        </p:spPr>
      </p:sp>
      <p:sp>
        <p:nvSpPr>
          <p:cNvPr id="4" name="Text 2"/>
          <p:cNvSpPr/>
          <p:nvPr/>
        </p:nvSpPr>
        <p:spPr>
          <a:xfrm>
            <a:off x="548640" y="1005840"/>
            <a:ext cx="10972800" cy="5029200"/>
          </a:xfrm>
          <a:prstGeom prst="rect">
            <a:avLst/>
          </a:prstGeom>
          <a:noFill/>
          <a:ln/>
        </p:spPr>
        <p:txBody>
          <a:bodyPr wrap="square" rtlCol="0" anchor="t"/>
          <a:lstStyle/>
          <a:p>
            <a:pPr indent="0" marL="0">
              <a:lnSpc>
                <a:spcPct val="135000"/>
              </a:lnSpc>
              <a:buNone/>
            </a:pPr>
            <a:r>
              <a:rPr lang="en-US" sz="1200" dirty="0">
                <a:solidFill>
                  <a:srgbClr val="44403C"/>
                </a:solidFill>
                <a:latin typeface="Arial" pitchFamily="34" charset="0"/>
                <a:ea typeface="Arial" pitchFamily="34" charset="-122"/>
                <a:cs typeface="Arial" pitchFamily="34" charset="-120"/>
              </a:rPr>
              <a:t>Days 1-3 require immediate pricing corrections on our highest-impact units to reverse occupancy decline trends. Property B1 moves from $1,525 to $1,434 asking rent to address its 79% occupancy and 11.8-day breakeven, while Property B2 reduces from $1,654 to $1,545 to accelerate lease velocity. Property A2 implements preventive pricing reduction from $1,411 to $1,315 to maintain its current 86% occupancy performance. These targeted interventions address $820 of our $911 daily portfolio burn while preventing further deterioration across critical units.</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182880"/>
            <a:ext cx="9144000" cy="548640"/>
          </a:xfrm>
          <a:prstGeom prst="rect">
            <a:avLst/>
          </a:prstGeom>
          <a:noFill/>
          <a:ln/>
        </p:spPr>
        <p:txBody>
          <a:bodyPr wrap="square" rtlCol="0" anchor="ctr"/>
          <a:lstStyle/>
          <a:p>
            <a:pPr indent="0" marL="0">
              <a:buNone/>
            </a:pPr>
            <a:r>
              <a:rPr lang="en-US" sz="2000" b="1" dirty="0">
                <a:solidFill>
                  <a:srgbClr val="1C1917"/>
                </a:solidFill>
                <a:latin typeface="Arial" pitchFamily="34" charset="0"/>
                <a:ea typeface="Arial" pitchFamily="34" charset="-122"/>
                <a:cs typeface="Arial" pitchFamily="34" charset="-120"/>
              </a:rPr>
              <a:t>Day 15 Decision Points</a:t>
            </a:r>
            <a:endParaRPr lang="en-US" sz="2000" dirty="0"/>
          </a:p>
        </p:txBody>
      </p:sp>
      <p:sp>
        <p:nvSpPr>
          <p:cNvPr id="3" name="Shape 1"/>
          <p:cNvSpPr/>
          <p:nvPr/>
        </p:nvSpPr>
        <p:spPr>
          <a:xfrm>
            <a:off x="548640" y="777240"/>
            <a:ext cx="11064240" cy="9144"/>
          </a:xfrm>
          <a:prstGeom prst="rect">
            <a:avLst/>
          </a:prstGeom>
          <a:solidFill>
            <a:srgbClr val="D6D3D1"/>
          </a:solidFill>
          <a:ln/>
        </p:spPr>
      </p:sp>
      <p:sp>
        <p:nvSpPr>
          <p:cNvPr id="4" name="Text 2"/>
          <p:cNvSpPr/>
          <p:nvPr/>
        </p:nvSpPr>
        <p:spPr>
          <a:xfrm>
            <a:off x="548640" y="1005840"/>
            <a:ext cx="10972800" cy="5029200"/>
          </a:xfrm>
          <a:prstGeom prst="rect">
            <a:avLst/>
          </a:prstGeom>
          <a:noFill/>
          <a:ln/>
        </p:spPr>
        <p:txBody>
          <a:bodyPr wrap="square" rtlCol="0" anchor="t"/>
          <a:lstStyle/>
          <a:p>
            <a:pPr indent="0" marL="0">
              <a:lnSpc>
                <a:spcPct val="135000"/>
              </a:lnSpc>
              <a:buNone/>
            </a:pPr>
            <a:r>
              <a:rPr lang="en-US" sz="1200" dirty="0">
                <a:solidFill>
                  <a:srgbClr val="44403C"/>
                </a:solidFill>
                <a:latin typeface="Arial" pitchFamily="34" charset="0"/>
                <a:ea typeface="Arial" pitchFamily="34" charset="-122"/>
                <a:cs typeface="Arial" pitchFamily="34" charset="-120"/>
              </a:rPr>
              <a:t>Day 15 decision points determine escalation or optimization based on measurable occupancy and velocity outcomes from our Phase 1 interventions. Property B1 success above 85% occupancy maintains current strategy, while performance below 82% triggers additional $50 rent reduction plus 4-week concessions. Property A2 reaching 90% occupancy allows gradual rent recovery, while performance below 88% requires sustained pricing support and targeted marketing. These conditional responses ensure our intervention intensity matches actual market responsiveness rather than following predetermined timelines.</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182880"/>
            <a:ext cx="9144000" cy="548640"/>
          </a:xfrm>
          <a:prstGeom prst="rect">
            <a:avLst/>
          </a:prstGeom>
          <a:noFill/>
          <a:ln/>
        </p:spPr>
        <p:txBody>
          <a:bodyPr wrap="square" rtlCol="0" anchor="ctr"/>
          <a:lstStyle/>
          <a:p>
            <a:pPr indent="0" marL="0">
              <a:buNone/>
            </a:pPr>
            <a:r>
              <a:rPr lang="en-US" sz="2000" b="1" dirty="0">
                <a:solidFill>
                  <a:srgbClr val="1C1917"/>
                </a:solidFill>
                <a:latin typeface="Arial" pitchFamily="34" charset="0"/>
                <a:ea typeface="Arial" pitchFamily="34" charset="-122"/>
                <a:cs typeface="Arial" pitchFamily="34" charset="-120"/>
              </a:rPr>
              <a:t>Further Investigation</a:t>
            </a:r>
            <a:endParaRPr lang="en-US" sz="2000" dirty="0"/>
          </a:p>
        </p:txBody>
      </p:sp>
      <p:sp>
        <p:nvSpPr>
          <p:cNvPr id="3" name="Shape 1"/>
          <p:cNvSpPr/>
          <p:nvPr/>
        </p:nvSpPr>
        <p:spPr>
          <a:xfrm>
            <a:off x="548640" y="777240"/>
            <a:ext cx="11064240" cy="9144"/>
          </a:xfrm>
          <a:prstGeom prst="rect">
            <a:avLst/>
          </a:prstGeom>
          <a:solidFill>
            <a:srgbClr val="D6D3D1"/>
          </a:solidFill>
          <a:ln/>
        </p:spPr>
      </p:sp>
      <p:sp>
        <p:nvSpPr>
          <p:cNvPr id="4" name="Text 2"/>
          <p:cNvSpPr/>
          <p:nvPr/>
        </p:nvSpPr>
        <p:spPr>
          <a:xfrm>
            <a:off x="548640" y="1005840"/>
            <a:ext cx="10972800" cy="5029200"/>
          </a:xfrm>
          <a:prstGeom prst="rect">
            <a:avLst/>
          </a:prstGeom>
          <a:noFill/>
          <a:ln/>
        </p:spPr>
        <p:txBody>
          <a:bodyPr wrap="square" rtlCol="0" anchor="t"/>
          <a:lstStyle/>
          <a:p>
            <a:pPr indent="0" marL="0">
              <a:lnSpc>
                <a:spcPct val="135000"/>
              </a:lnSpc>
              <a:buNone/>
            </a:pPr>
            <a:r>
              <a:rPr lang="en-US" sz="1200" dirty="0">
                <a:solidFill>
                  <a:srgbClr val="44403C"/>
                </a:solidFill>
                <a:latin typeface="Arial" pitchFamily="34" charset="0"/>
                <a:ea typeface="Arial" pitchFamily="34" charset="-122"/>
                <a:cs typeface="Arial" pitchFamily="34" charset="-120"/>
              </a:rPr>
              <a:t>Investigation priorities focus on Property B1's occupancy deterioration requiring immediate emergency pricing intervention and aggressive concession packages. Property A2 needs preventive measures before reaching distressed levels, while portfolio-wide exposure management addresses universal velocity concerns. Review amenity pricing strategies across all unit types, particularly B1's $125 amenity charges representing 8.2% of predicted rent.</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C1917"/>
        </a:solidFill>
      </p:bgPr>
    </p:bg>
    <p:spTree>
      <p:nvGrpSpPr>
        <p:cNvPr id="1" name=""/>
        <p:cNvGrpSpPr/>
        <p:nvPr/>
      </p:nvGrpSpPr>
      <p:grpSpPr>
        <a:xfrm>
          <a:off x="0" y="0"/>
          <a:ext cx="0" cy="0"/>
          <a:chOff x="0" y="0"/>
          <a:chExt cx="0" cy="0"/>
        </a:xfrm>
      </p:grpSpPr>
      <p:sp>
        <p:nvSpPr>
          <p:cNvPr id="2" name="Text 0"/>
          <p:cNvSpPr/>
          <p:nvPr/>
        </p:nvSpPr>
        <p:spPr>
          <a:xfrm>
            <a:off x="731520" y="365760"/>
            <a:ext cx="10058400" cy="640080"/>
          </a:xfrm>
          <a:prstGeom prst="rect">
            <a:avLst/>
          </a:prstGeom>
          <a:noFill/>
          <a:ln/>
        </p:spPr>
        <p:txBody>
          <a:bodyPr wrap="square" rtlCol="0" anchor="ctr"/>
          <a:lstStyle/>
          <a:p>
            <a:pPr indent="0" marL="0">
              <a:buNone/>
            </a:pPr>
            <a:r>
              <a:rPr lang="en-US" sz="2400" b="1" dirty="0">
                <a:solidFill>
                  <a:srgbClr val="FFFFFF"/>
                </a:solidFill>
                <a:latin typeface="Arial" pitchFamily="34" charset="0"/>
                <a:ea typeface="Arial" pitchFamily="34" charset="-122"/>
                <a:cs typeface="Arial" pitchFamily="34" charset="-120"/>
              </a:rPr>
              <a:t>Summary &amp; Next Steps</a:t>
            </a:r>
            <a:endParaRPr lang="en-US" sz="2400" dirty="0"/>
          </a:p>
        </p:txBody>
      </p:sp>
      <p:sp>
        <p:nvSpPr>
          <p:cNvPr id="3" name="Text 1"/>
          <p:cNvSpPr/>
          <p:nvPr/>
        </p:nvSpPr>
        <p:spPr>
          <a:xfrm>
            <a:off x="731520" y="1280160"/>
            <a:ext cx="10515600" cy="4572000"/>
          </a:xfrm>
          <a:prstGeom prst="rect">
            <a:avLst/>
          </a:prstGeom>
          <a:noFill/>
          <a:ln/>
        </p:spPr>
        <p:txBody>
          <a:bodyPr wrap="square" rtlCol="0" anchor="t"/>
          <a:lstStyle/>
          <a:p>
            <a:pPr indent="0" marL="0">
              <a:lnSpc>
                <a:spcPct val="140000"/>
              </a:lnSpc>
              <a:buNone/>
            </a:pPr>
            <a:r>
              <a:rPr lang="en-US" sz="1300" dirty="0">
                <a:solidFill>
                  <a:srgbClr val="D6D3D1"/>
                </a:solidFill>
                <a:latin typeface="Arial" pitchFamily="34" charset="0"/>
                <a:ea typeface="Arial" pitchFamily="34" charset="-122"/>
                <a:cs typeface="Arial" pitchFamily="34" charset="-120"/>
              </a:rPr>
              <a:t>Your portfolio's $23,116 monthly revenue opportunity and 64-grade efficiency score demand immediate action at Property B while implementing preventive measures at Property A. Focus intervention on Property B1's emergency pricing needs and Property A2's velocity improvement to capture revenue and prevent further deterioration across your 156-unit portfolio.</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RoboRev Revenue Management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Portfolio — Revenue Management Diagnosis</dc:title>
  <dc:subject>Pricing Diagnosis — Portfolio</dc:subject>
  <dc:creator>RoboRev</dc:creator>
  <cp:lastModifiedBy>RoboRev</cp:lastModifiedBy>
  <cp:revision>1</cp:revision>
  <dcterms:created xsi:type="dcterms:W3CDTF">2026-03-19T05:13:56Z</dcterms:created>
  <dcterms:modified xsi:type="dcterms:W3CDTF">2026-03-19T05:13:56Z</dcterms:modified>
</cp:coreProperties>
</file>