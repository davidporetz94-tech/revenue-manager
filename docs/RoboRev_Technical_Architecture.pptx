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ROBOREV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Revenue Management for Multifamily Real Estate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Decision Framework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EliseAI  •  March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294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13,400+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4681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4681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4681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Units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40880" y="4681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RoboRev is a full-stack revenue management platform that answers two questions for multifamily operators: </a:t>
            </a:r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we priced correctly?"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should we do in the next 30 days?"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uses a four-layer architecture — deterministic math, configurable thresholds, a revenue optimization engine, and Claude AI for diagnosis — ensuring every dollar figure is auditable and every recommendation is explainable. Designed from scratch for the post-DOJ-settlement regulatory environment.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65760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60604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 + configurable thresholds + revenue optimization + AI judgment. Each layer independently testable.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606040"/>
            <a:ext cx="365760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60604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 Experimentation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Multi-armed bandit pricing experiments — no other multifamily RM platform does structured A/B price testing.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365760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794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Transparency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shows ranked factors, weights, and full audit trail. Built for regulatory scrutiny.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794760"/>
            <a:ext cx="3657600" cy="10058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79476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Regulatory-First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DOJ settlement (Nov 2025), NY algorithmic pricing ban (Dec 2025), and CA AB 325 (Jan 2026).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Multifamily pricing is uniquely hard — and the industry's dominant tool is under federal antitrust action.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Pricing Is Hard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mispriced lease locks in for 12+ months — unlike hotels where errors reset nightly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67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per floor plan is just 1–2 renters/month, making forecasting statistically fragile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79806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7066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moving costs create stickiness that masks pricing errors for months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23697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455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operators still rely on spreadsheets — no systematic approach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67588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844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thresholds fail: 80% occupancy is a crisis for a stabilized REIT, on-track for a lease-up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Earthquake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v. RealPage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settlement prohibits using competitors' nonpublic data in real-time pricing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 Ban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— bans algorithmic pricing using data from 2+ owners. Up to $1M penalty.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AB 325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— criminalizes using a common pricing algorithm to restrain trade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5661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Litigation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$194M+ in settlements. Greystar alone paid $50M. $3.8B annual cost to renters (CEA est.)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297680"/>
            <a:ext cx="7680960" cy="59436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343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RoboRev is built from scratch for this post-antitrust era — compliant by architecture, not by retrofit.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DATA: ELISEAI PRICING EXPORT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system traces back to this export — the single source of truth. 156 units of seeded dummy data reconcile to these aggregates exactly.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57200"/>
                <a:gridCol w="502920"/>
                <a:gridCol w="594360"/>
                <a:gridCol w="640080"/>
                <a:gridCol w="685800"/>
                <a:gridCol w="640080"/>
                <a:gridCol w="640080"/>
                <a:gridCol w="685800"/>
                <a:gridCol w="685800"/>
                <a:gridCol w="502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 (1BR/1BA)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 (2BR/1BA)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(1BR/1BA)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 (2BR/2BA)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246120"/>
            <a:ext cx="7680960" cy="7772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Relationship: 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Rent = Base Rent + Amenity Premium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(exact for all 4 rows)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B1 = $1,405 (base) + $125 (amenity) = $1,530 (predicted).  This hedonic decomposition is the foundation of amenity pricing analysis.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 at a glance: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97280" y="448056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Healthy. 96% occ, asking $12 above comps (0.9%). Minor LTL upside on renewals.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46360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97280" y="463600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Overpricing signal. 86% occ, asking $53 above predicted. Occupancy declining 2pts/month over 3 months.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1520" y="479145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97280" y="479145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Crisis. 79% occ, asking $91 above EVERY comp. In-place ($1,572) &gt; asking ($1,525) — negative LTL.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31520" y="49469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97280" y="494690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Puzzle. 88% occ, priced $8 BELOW comps — but 6 units vacant avg 28 days. If price is right, what's wrong?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FOUR-LAYER ENGINE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either pure rules engines (rigid) or pure AI (hallucinate numbers). RoboRev is neither.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16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Metrics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216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functions. ~95 formulas across occupancy, exposure, pricing spreads, revenue, seasonality, lease terms.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9.7ms on 156 units. Every number traces to a computation, not an LLM.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0" y="187452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011680"/>
            <a:ext cx="73152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0391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2212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Flag Generator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039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metrics against CLIENT-configured thresholds. Same data + different strategy = different flags.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395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rules, zero hardcoded thresholds. Severity levels: CRITICAL, HIGH, MEDIUM, LOW, POSITIVE, INFO.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26974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83464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2834640"/>
            <a:ext cx="73152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2862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3035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 Engine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2862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estimation, 41-point grid search optimal pricing, revenue gap decomposition, 4-dimensional efficiency scoring.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218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optimizer with turnover probability model. All deterministic — no AI.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297680" y="35204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657600"/>
            <a:ext cx="768096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657600"/>
            <a:ext cx="73152" cy="6858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6850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8587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(Claude API)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89120" y="36850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pre-computed metrics + flags + optimization. Generates scored diagnosis, root causes, and action plan.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computes dollar amounts — only narrates, scores, and sequences actions.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4622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A regulatory audit can trace every dollar to a deterministic computation, every flag to a configurable threshold, and every recommendation to an AI decision — each independently verifiable.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1: DETERMINISTIC METRICS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Separate Python Module Per Methodology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28346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Formula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occupancy.py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 rate, vacancy count, on-notice 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occupied / total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exposure.py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30d/60d/90d exposure, trend 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(vacant + on_notice_window) / total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pricing_spread.py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spread metrics: asking vs comps, LTL, etc.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asking - comps, in_place - asking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burn, breakeven days, monthly potential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(asking / 30) × vacant_units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revenue_optimizer.py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Elasticity, optimal price, gap decomposition,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argmax(revenue - vacancy_penalty)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renewal_optimizer.py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%, turnover P(), net capture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 × (1 + inc% × sensitivity)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seasonal.py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proximity, 12 monthly factors (0.92–1.07)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Distance to May–Sep window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lease_term.py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expiration %, seasonal alignment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Count expirations by month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79476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7307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— no database access, no side effects, no external calls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41148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40507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round_half_up() everywhere — matches export, not Python's banker's rounding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" y="44348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43708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 formulas total across all modules — structured JSON output, no scores or judgments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" y="475488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6908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 combines all modules into a single metrics payload for downstream layers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1.5: CONFIGURABLE FLAG GENERATOR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means different things to different clients. Flags are facts compared against client strategy, not universal rules.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657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64008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Stabilized REIT Config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crisis_below = 0.82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at 79% occupancy fires: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OCCUPANCY_CRISIS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total flags, 2 CRITICAL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6576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64008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325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Config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5727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crisis_below = 0.72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828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B1 at 79% occupancy fires: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OCCUPANCY_BELOW_ACTION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flags, lower severity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0332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Flag Counts (Default "Stabilized Balanced" Config)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80160" y="3337560"/>
            <a:ext cx="54864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192024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flags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DOM_ABOVE_THRESHOLD, EXECUTED_BELOW_ASKING, OCCUPANCY_PUSH_ELIGIBLE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80160" y="3749040"/>
            <a:ext cx="128016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flags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OCCUPANCY_BELOW_ACTION, EXPOSURE_ACTION_NEEDED, CONCESSION_TRIGGER, MAB_ELIGIBLE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4114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280160" y="4160520"/>
            <a:ext cx="219456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flags (2 CRIT)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OCCUPANCY_CRISIS, EXPOSURE_CRISIS + 10 more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31520" y="4526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280160" y="4572000"/>
            <a:ext cx="128016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65176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flags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DOM_ABOVE_THRESHOLD, DAYS_VACANT_THRESHOLD, MAB_ELIGIBLE + 4 more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2: REVENUE OPTIMIZATION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estimation, optimal pricing, revenue gap decomposition, and efficiency scoring — all deterministic, no AI.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2344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 Estimation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 = -(occ_change / rent_pct_change) × 100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occupancy shifts per 1% rent change, derived from historical snapshots. Confidence levels (HIGH/MEDIUM/LOW) based on data depth and comp corroboration.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2344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Price (41-Point Grid Search)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3716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 = argmax(revenue - vacancy_penalty)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-10% to +10% in 0.5% steps. Asymmetric vacancy penalty (heavier below crisis threshold). Clamped to ±15% of comps. Seasonal adjustment. Conservative recommendation = halfway to optimal.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931920" cy="12344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68880"/>
            <a:ext cx="64008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Gap Decomposition (5 Levers)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= optimal_revenue - current_revenue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into: FILL (vacancy cost), REPRICE (new lease gap vs optimal), RENEW (loss-to-lease capture), RENEWAL (from renewal optimizer), DE_CONCESSION (concession drag). Identifies the dominant lever.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931920" cy="12344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68880"/>
            <a:ext cx="64008" cy="12344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5054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Efficiency Score (0–100)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Σ(dimension × zone_weight)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dimensions: Occupancy Health, Pricing Alignment, Rent Roll Momentum, Revenue Capture. Weights shift dynamically by occupancy zone (CRISIS→FULL) and season. Grade bands: OPTIMIZED (≥85), OPPORTUNITY (≥70), IMBALANCED (≥55), DISTRESSED (≥40), CRISIS (&lt;40).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4048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8679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Optimizer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386791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P(turnover) = base_rate × (1 + inc% × sensitivity)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40965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 by zone: CRISIS/STRESSED = freeze (0%). BALANCED = 2–3.5%. STRONG/FULL = 2.5–5%. Net annual = gross renewal capture - P(turnover) × turnover cost × renewals. Factors in LTL and peak season proximity.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360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efficiency = unit-weighted efficiency score × 60% + revenue capture % × 40%.  All deterministic — feeds into Layer 3 as pre-computed facts.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3: AI DIAGNOSIS (CLAUDE API)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228600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64008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Score each unit type (0-100) with reasoning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Identify root causes across flags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 cross-portfolio patterns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Design MAB experiments with guard rails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Sequence actions into a phased 30-day plan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 consulting-quality narrative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657600" cy="228600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14400"/>
            <a:ext cx="64008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NEVER Does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Compute dollar amounts (all revenue math is Python)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Access the database directly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18653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Generate chart data (all viz data is deterministic)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2157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Make threshold decisions (that's the config layer)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Override operator decisions (auto-accept never default)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Pipeline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3749040"/>
            <a:ext cx="246888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749040"/>
            <a:ext cx="54864" cy="777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1: Diagnosis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root causes, cross-portfolio patterns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74720" y="3749040"/>
            <a:ext cx="246888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3749040"/>
            <a:ext cx="54864" cy="777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2: Action Plan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actions, experiments, decision trees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2468880" cy="7772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749040"/>
            <a:ext cx="54864" cy="7772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7673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3: Narrative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12-slide consulting narrative + slide-level text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net:  Post-generation regex cross-references all $X,XXX patterns in narrative against metrics JSON. Template fallback if Claude fails.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UNIT TYPE ARCHETYPES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type tells a distinct pricing story — from healthy to crisis.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07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Healthy 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8760" y="1508760"/>
            <a:ext cx="10058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5087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06040" y="1508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80–90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occ  •  $12 above comps (0.9%)  •  3 flags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occupancy + aligned comps = green light to push pricing. Push renewals to ~$1,332 (+5%). Hold asking.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103120"/>
            <a:ext cx="73152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121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2148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Overpricing Signal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08760" y="2423160"/>
            <a:ext cx="1005840" cy="2011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24231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06040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50–65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214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occ (↓ from 92%)  •  $53 above predicted  •  7 flags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2423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falling while asking rents pushed UP. Classic overpricing pattern. Needs experiment: $1,411 control vs $1,358 test.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01752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508760" y="3337560"/>
            <a:ext cx="1005840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1508760" y="33375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0604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20–35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0" y="3063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occ (↓↓ from 88%)  •  $91 above ALL comps  •  12 flags (2 CRITICAL)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freefall. Every comp is cheaper. In-place tenants pay MORE than asking (negative LTL). Direct price cut, not experiment.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393192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05840" y="3950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0876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08760" y="4251960"/>
            <a:ext cx="10058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508760" y="4251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NEEDED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06040" y="4251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55–65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3977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occ  •  $8 BELOW comps  •  7 flags (0 CRITICAL)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right but units sit 28 days. Problem likely non-price: unit condition, listing quality, tour conversion. 3-arm experiment.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MATH: REVENUE AT RISK &amp; ROUNDING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 — The Cost of Empty Units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4572000" cy="502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daily_burn = (asking_rent ÷ 30) × vacant_units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417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 how much money evaporates per day from each empty unit.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64008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Burn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$911/day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$27,334/mo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0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Rounding Trap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0" y="1143000"/>
            <a:ext cx="3017520" cy="24688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5216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 exposure = 6 ÷ 48 = 0.125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1600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default: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216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round(0.125, 2) → 0.12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52160" y="20116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(banker's rounding — rounds to even)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52160" y="23317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shows: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52160" y="2514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27432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(traditional round-half-up)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2160" y="3017520"/>
            <a:ext cx="22860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1089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round_half_up() everywhere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52160" y="32918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floor(x × 10^d + 0.5) / 10^d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1520" y="4069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decision cascades through every percentage in the system. A mismatch between computed and exported values would undermine trust in the entire platform — and fail reconciliation tests.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4645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optimization insight: at $1,800/month, 30 days vacancy costs $1,800 — far exceeding the $600 "lost" over 12 months by pricing $50 lower. Speed to lease often beats price per unit.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DIVE: B1 — THE CRISIS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is the most data-rich unit type in the portfolio. Every metric points the same direction.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Three-Month Trend (Dec → Mar)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88% → 83% → 81% → 79%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↓↓↓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Rent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$1,600 → $1,560 → $1,540 → $1,525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0" y="1892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(but too slow)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Average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$1,475 → $1,460 → $1,445 → $1,434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2276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↓↓ (market collapsing)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Ask-to-Comp Gap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660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$125 → $100 → $95 → $91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but still $91 above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Anomaly: Negative Loss-to-Lease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3520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In-place rent ($1,572)  &gt;  Asking rent ($1,525)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existing tenants already pay MORE than what's being offered to new renters. Normally it's the opposite (in-place &lt; market, creating "loss-to-lease"). Here, the market has declined past the existing rent roll.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rent ($1,655) is even higher — those leases were signed months ago when the market was stronger.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99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Direct price cut ($1,525 → $1,475), NOT experiment. With 2 CRITICAL flags, HIGH confidence, and $254/day burning, experimenting is irresponsible.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MULTI-ARMED BANDIT EXPERIMENTS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differentiator — no other multifamily RM platform does structured A/B price testing on vacant units.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325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vacant units between control price and test price(s)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days-to-lease per arm over 14-day observation window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Bayesian updating (not p-values) to identify the better price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14884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Convergence: practical significance — one arm leases 5+ days faster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423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termination: accept any application (never reject for science)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Allocation Rules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325880"/>
          <a:ext cx="3291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control / 1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control / 2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control / 2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control / 3 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split or 3-arm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93776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29443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Never experiment below 75% occupancy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937760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Max price spread: 6% or $100 (whichever tighter)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37760" y="33832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Operator must approve (no auto-accept)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37760" y="36027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Min 3 vacant units per config (2 is too few)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3152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Experiments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1520" y="3200400"/>
            <a:ext cx="3840480" cy="54864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14400" y="32186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A2: Two-Arm Price Test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14400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$1,411 (2 units)  vs  Test: $1,358 (3 units).  Spread: $53 (3.8%) — within 6% guard rail.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31520" y="3840480"/>
            <a:ext cx="3840480" cy="64008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14400" y="38587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B2: Three-Arm (Price vs Concession vs Control)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914400" y="4059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$1,654 (2)  |  Price: $1,600 (2)  |  Concession: $1,654 + 2wk free (2)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headline price vs upfront cost vs non-price barrier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937760" y="3840480"/>
            <a:ext cx="347472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1" name="Text 28"/>
          <p:cNvSpPr/>
          <p:nvPr/>
        </p:nvSpPr>
        <p:spPr>
          <a:xfrm>
            <a:off x="5120640" y="38587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Bayesian, not Frequentist?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120640" y="40599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2–3 units per arm, p-values will never reach 0.05. Practical significance (did one arm lease 5+ days faster?) is more actionable than statistical significance at N=3.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30-DAY ACTION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with a hard Day 15 decision point creating branching paths — adaptive, not static.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9728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5214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167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517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097280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B1: Cut asking $1,525 → $1,475 ($50 reduction)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252728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B1: 4 weeks free on stalest 2 vacant units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40817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B1: Freeze renewal increases (negative LTL)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1563624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A2: Launch 2-arm experiment ($1,411 vs $1,358)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11680" y="1719072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B2: Launch 3-arm experiment (price vs concession vs control)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1993392"/>
            <a:ext cx="109728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482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21284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4–14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&amp; Investigate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1993392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A1: Hold asking, push renewals to ~$1,332 (+5%)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11680" y="2148840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A1: Implement 14-month lease terms to shift expirations toward peak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2304288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B1: Conduct amenity audit ($125 premium at 8.2% — above 6% threshold)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245973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B2: Non-price investigation (tour conversion, listing quality, unit condition)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2889504"/>
            <a:ext cx="1097280" cy="74980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94436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1089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310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11680" y="2889504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B1: ≥2 leased → hold $1,475. Zero leased → cut to $1,434 (comps)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11680" y="3044952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A2: Test won → converge at $1,358. No diff → investigate further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011680" y="3200400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B2: Price won → adopt $1,600. Concession won → extend. Neither → non-price root cause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3785616"/>
            <a:ext cx="109728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840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40050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22–30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152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&amp; Position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11680" y="3785616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Lock in strategies based on Phase 3 experimental data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11680" y="3941064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Position portfolio for spring peak season (May–Sep)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11680" y="4096512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Recalibrate config thresholds based on 30 days of outcomes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7274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capacity constraint: 2–3 significant actions per week. This plan respects that — it's achievable, not aspirational.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TRENDS &amp; COMP SET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Three-Month Trend Stories (Dec 2025 → Mar 2026)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640080"/>
                <a:gridCol w="640080"/>
                <a:gridCol w="411480"/>
                <a:gridCol w="685800"/>
                <a:gridCol w="685800"/>
                <a:gridCol w="685800"/>
                <a:gridCol w="685800"/>
                <a:gridCol w="16459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Occ%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Occ%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Ask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Comp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Comp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Stable, gentle growth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 falling while rents 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Freefall. Ask lagging comps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$1,662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right, absorption puzzle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Set Design Decisions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10896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30449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comps for Property A (Maplewood Gardens submarket), 5 for Property B (Harbor Point)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34290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3649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Aggregation: simple average of current asking rents across all comps per unit type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374904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68503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72 individual comp observations pre-computed and verified against export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406908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40050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provenance: every record has source (PUBLIC_LISTING, COSTAR, APARTMENTIQ, MANUAL) and source_url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B1 insight: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B asks $1,525 — $91 ABOVE every single comp, including Azure Tower (Class A, 2022 build, $1,485). This is the clearest pricing signal in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COMPLIANCE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non-negotiable principles embedded in the codebase — not documented policies, architectural constraints.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3657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2984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Asking Rents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819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data limited to publicly advertised asking rents. Never effective rents, occupancy, or concessions. Every comp_rents row has data_source and source_url for audit.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Settlement §IV(A)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657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12984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Organization-Level Data Isolation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5819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organization_id filter on every database query. No customer's competitively sensitive data is accessible to algorithms serving a competitor.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Settlement §IV(B)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1520" y="2423160"/>
            <a:ext cx="3657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4231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770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recommendation, action, and override is recorded. The ORM model has no update or delete methods. No API endpoints for modification.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Settlement §VI (Monitor)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657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2316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12080" y="24871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Never Default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770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must actively confirm pricing changes. The system recommends; the operator decides. Independent decision-making authority preserved.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200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Settlement §IV(C)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3611880"/>
            <a:ext cx="3657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61188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675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White-Box Transparency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9593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shows ranked factors, weights, and how each influenced the output. Operators can adjust any input, override any output.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4389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 Ban / CA AB 325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611880"/>
            <a:ext cx="365760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61188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12080" y="3675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Sub-State Data Reporting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37760" y="39593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cross-customer data reporting more granular than state level. Comp data is per-property, never aggregated across customers.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3891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 Settlement §IV(D)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solidFill>
            <a:srgbClr val="422006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472744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NEVER stored: actual executed rents, actual occupancy, actual concessions, lease terms, or turnover rates from competitors.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STATS &amp;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932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+ Tests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82296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932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13,454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743200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554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+ Test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932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 Suites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82296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932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9.7ms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6560" y="13258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Speed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15544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units full metrics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01168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" y="2514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Route Groups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201168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0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743200" y="2514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Domains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01168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754880" y="2514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Units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to Export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011680"/>
            <a:ext cx="173736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66560" y="21214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766560" y="2514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Chart + 11 Slide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" y="3291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66160"/>
          <a:ext cx="7680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  <a:gridCol w="384048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Tailwind CSS + Recharts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model, declarative charts, responsive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3.14 + FastAPI + SQLAlchemy 2.0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Async-ready, type-safe ORM, modern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17 (JSONB configs)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 schemas for configs + audit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 4 via Anthropic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quality/speed/cost for structured 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(bcrypt + PyJWT, 24h expiry)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standard, no reinvention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THESIS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8288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management is not a black box problem.</a:t>
            </a:r>
            <a:endParaRPr lang="en-US" sz="2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transparency problem.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platform in the post-antitrust era will not be the one with the most competitor data. It will be the one that extracts the most insight from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proprietary, compliant data sources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mathematical techniques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a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auditable architecture.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749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Math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4142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dollar traces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computation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06040" y="374904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3749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71576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for Strategy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15768" y="4142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thesis shapes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"good" means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749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for Pricing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4142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Elasticity, grid search,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decomposition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374904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3749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7013448" y="3840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Judgment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13448" y="4142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narrates and sequences,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computes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RoboRev — Technical Architecture &amp; Decision Framework</dc:title>
  <dc:subject>PptxGenJS Presentation</dc:subject>
  <dc:creator>RoboRev</dc:creator>
  <cp:lastModifiedBy>RoboRev</cp:lastModifiedBy>
  <cp:revision>1</cp:revision>
  <dcterms:created xsi:type="dcterms:W3CDTF">2026-03-19T04:38:59Z</dcterms:created>
  <dcterms:modified xsi:type="dcterms:W3CDTF">2026-03-19T04:38:59Z</dcterms:modified>
</cp:coreProperties>
</file>